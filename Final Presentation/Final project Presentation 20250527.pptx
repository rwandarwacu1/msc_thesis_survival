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72" r:id="rId7"/>
    <p:sldId id="285" r:id="rId8"/>
    <p:sldId id="273" r:id="rId9"/>
    <p:sldId id="275" r:id="rId10"/>
    <p:sldId id="277" r:id="rId11"/>
    <p:sldId id="276" r:id="rId12"/>
    <p:sldId id="278" r:id="rId13"/>
    <p:sldId id="291" r:id="rId14"/>
    <p:sldId id="269" r:id="rId15"/>
    <p:sldId id="263" r:id="rId16"/>
    <p:sldId id="279" r:id="rId17"/>
    <p:sldId id="259" r:id="rId18"/>
    <p:sldId id="270" r:id="rId19"/>
    <p:sldId id="265" r:id="rId20"/>
    <p:sldId id="283" r:id="rId21"/>
    <p:sldId id="284" r:id="rId22"/>
    <p:sldId id="280" r:id="rId23"/>
    <p:sldId id="282" r:id="rId24"/>
    <p:sldId id="281" r:id="rId25"/>
    <p:sldId id="289" r:id="rId26"/>
    <p:sldId id="274" r:id="rId27"/>
    <p:sldId id="288" r:id="rId28"/>
    <p:sldId id="286" r:id="rId29"/>
    <p:sldId id="287" r:id="rId30"/>
    <p:sldId id="290" r:id="rId31"/>
    <p:sldId id="29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80" autoAdjust="0"/>
  </p:normalViewPr>
  <p:slideViewPr>
    <p:cSldViewPr snapToGrid="0" showGuides="1">
      <p:cViewPr varScale="1">
        <p:scale>
          <a:sx n="60" d="100"/>
          <a:sy n="60" d="100"/>
        </p:scale>
        <p:origin x="8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5/28/2025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5/28/2025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step function nature of KM </a:t>
            </a:r>
          </a:p>
          <a:p>
            <a:r>
              <a:rPr lang="en-US" sz="1800" b="0" i="1" u="none" strike="noStrike" baseline="0" dirty="0">
                <a:latin typeface="CMTI10"/>
              </a:rPr>
              <a:t>Greenwood’s formula</a:t>
            </a:r>
            <a:r>
              <a:rPr lang="en-US" sz="1800" b="0" i="0" u="none" strike="noStrike" baseline="0" dirty="0">
                <a:latin typeface="CMR10"/>
              </a:rPr>
              <a:t>.</a:t>
            </a:r>
          </a:p>
          <a:p>
            <a:endParaRPr lang="en-US" sz="1800" b="0" i="0" u="none" strike="noStrike" baseline="0" dirty="0">
              <a:latin typeface="CMR10"/>
            </a:endParaRPr>
          </a:p>
          <a:p>
            <a:r>
              <a:rPr lang="en-US" sz="1200" b="0" i="1" u="none" strike="noStrike" baseline="0" dirty="0">
                <a:latin typeface="CMTI10"/>
              </a:rPr>
              <a:t>Greenwood’s formula</a:t>
            </a:r>
            <a:r>
              <a:rPr lang="en-US" sz="1200" b="0" i="0" u="none" strike="noStrike" baseline="0" dirty="0">
                <a:latin typeface="CMR10"/>
              </a:rPr>
              <a:t>. (to be added ) </a:t>
            </a:r>
          </a:p>
          <a:p>
            <a:r>
              <a:rPr lang="en-US" sz="1200" dirty="0">
                <a:latin typeface="CMR10"/>
              </a:rPr>
              <a:t>Survival difference </a:t>
            </a:r>
            <a:r>
              <a:rPr lang="en-US" sz="1200" dirty="0">
                <a:latin typeface="CMR10"/>
                <a:sym typeface="Wingdings" panose="05000000000000000000" pitchFamily="2" charset="2"/>
              </a:rPr>
              <a:t> standard error estimation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93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GPD </a:t>
            </a:r>
          </a:p>
          <a:p>
            <a:r>
              <a:rPr lang="en-US" dirty="0"/>
              <a:t>Extreme value Theory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95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5 and 1  were the most prevalent, with frequencies of 7 and 6 respectively </a:t>
            </a:r>
          </a:p>
          <a:p>
            <a:r>
              <a:rPr lang="en-US" dirty="0"/>
              <a:t>Do those who say they know actually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58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more improvement on the Mean residual Life plot (Pre versus post)-</a:t>
            </a:r>
            <a:r>
              <a:rPr lang="en-US" dirty="0">
                <a:sym typeface="Wingdings" panose="05000000000000000000" pitchFamily="2" charset="2"/>
              </a:rPr>
              <a:t> New knowledge and easy to grasp </a:t>
            </a:r>
          </a:p>
          <a:p>
            <a:r>
              <a:rPr lang="en-US" dirty="0">
                <a:sym typeface="Wingdings" panose="05000000000000000000" pitchFamily="2" charset="2"/>
              </a:rPr>
              <a:t>Overall learning effect was positive for those with lower self-rated knowledge.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McNemar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2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no knowledge gain for clinicians who scored above 50% on the pretest on average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7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a noticeable increase in the accuracy of interpretation for MRL. </a:t>
            </a:r>
          </a:p>
          <a:p>
            <a:r>
              <a:rPr lang="en-US" dirty="0"/>
              <a:t>The correct interpretations were more from general practitioner   from </a:t>
            </a:r>
            <a:r>
              <a:rPr lang="en-US" dirty="0" err="1"/>
              <a:t>Ethiopia,Ireland,Portugal,spain</a:t>
            </a:r>
            <a:r>
              <a:rPr lang="en-US" dirty="0"/>
              <a:t> and Switzerland.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64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Kaplan-Meier is the most preferred plot, followed by: </a:t>
            </a:r>
            <a:r>
              <a:rPr lang="en-US" i="1" dirty="0"/>
              <a:t>Survival difference, MRL plot, and MRL difference plot, respectively.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60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5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ie/books?id=3f_LBQAAQBAJ" TargetMode="External"/><Relationship Id="rId2" Type="http://schemas.openxmlformats.org/officeDocument/2006/relationships/hyperlink" Target="https://doi.org/10.1002/sim.6431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doi.org/10.1016/j.compbiomed.2005.03.005" TargetMode="External"/><Relationship Id="rId4" Type="http://schemas.openxmlformats.org/officeDocument/2006/relationships/hyperlink" Target="https://portal.gdc.cancer.gov/projects/TCGA-BRCA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Novel approaches for  </a:t>
            </a:r>
            <a:r>
              <a:rPr lang="en-US" b="1" dirty="0" err="1"/>
              <a:t>visualising</a:t>
            </a:r>
            <a:r>
              <a:rPr lang="en-US" b="1" dirty="0"/>
              <a:t> time-to-event data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Presenter: </a:t>
            </a:r>
            <a:r>
              <a:rPr lang="en-US" dirty="0"/>
              <a:t>Victor Pacifique Rwandarwacu &amp; Shyamsundar Ranganath</a:t>
            </a:r>
          </a:p>
          <a:p>
            <a:endParaRPr lang="en-US" dirty="0"/>
          </a:p>
          <a:p>
            <a:r>
              <a:rPr lang="en-US" b="1" dirty="0"/>
              <a:t>Supervisor: </a:t>
            </a:r>
            <a:r>
              <a:rPr lang="en-US" dirty="0"/>
              <a:t>Prof. John Newell</a:t>
            </a: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OUTLINE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Definition +rationale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Problem statement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Overview: Survival function, Mean Residual Life (MRL) function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Dataset </a:t>
            </a:r>
          </a:p>
          <a:p>
            <a:r>
              <a:rPr lang="en-US" dirty="0"/>
              <a:t>Method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Online Survey: clinicians’ knowledge and perspectives on survival data visualization.</a:t>
            </a:r>
          </a:p>
          <a:p>
            <a:r>
              <a:rPr lang="en-US" dirty="0"/>
              <a:t>Result </a:t>
            </a:r>
          </a:p>
          <a:p>
            <a:r>
              <a:rPr lang="en-US" dirty="0"/>
              <a:t>Discussion </a:t>
            </a:r>
          </a:p>
          <a:p>
            <a:pPr lvl="1"/>
            <a:r>
              <a:rPr lang="en-US" dirty="0"/>
              <a:t>Strength </a:t>
            </a:r>
          </a:p>
          <a:p>
            <a:pPr lvl="1"/>
            <a:r>
              <a:rPr lang="en-US" dirty="0"/>
              <a:t>Limitations </a:t>
            </a:r>
          </a:p>
          <a:p>
            <a:r>
              <a:rPr lang="en-US" dirty="0"/>
              <a:t>Conclusion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C2F-F990-B97A-99A2-781118DC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6CA2-264E-A555-1AB9-451853B9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Time-to-event or survival Analysis is the analysis of data in the form of times from a </a:t>
            </a:r>
            <a:r>
              <a:rPr lang="en-IE" b="1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well-defined time origin 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until the occurrence of an event of interest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Calibri" panose="020F0502020204030204" pitchFamily="34" charset="0"/>
              </a:rPr>
              <a:t>(Collett, 2023).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Euphemia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/>
              <a:t>Survival data are generally </a:t>
            </a:r>
            <a:r>
              <a:rPr lang="en-US" b="1" dirty="0"/>
              <a:t>asymmetric </a:t>
            </a:r>
            <a:r>
              <a:rPr lang="en-US" dirty="0"/>
              <a:t>and </a:t>
            </a:r>
            <a:r>
              <a:rPr lang="en-US" b="1" dirty="0"/>
              <a:t>censored, </a:t>
            </a:r>
            <a:r>
              <a:rPr lang="en-US" dirty="0"/>
              <a:t>requiring a specific approach to analysis and visualization.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err="1"/>
              <a:t>e.g</a:t>
            </a:r>
            <a:r>
              <a:rPr lang="en-US" i="1" dirty="0"/>
              <a:t>, Survival and Hazard function, KM estimator &amp; plot, etc.</a:t>
            </a:r>
          </a:p>
          <a:p>
            <a:r>
              <a:rPr lang="en-US" dirty="0"/>
              <a:t>Survival analysis has many applications in clinical practice, </a:t>
            </a:r>
            <a:r>
              <a:rPr lang="en-US" i="1" dirty="0" err="1"/>
              <a:t>ie</a:t>
            </a:r>
            <a:r>
              <a:rPr lang="en-US" i="1" dirty="0"/>
              <a:t>. time to recurrence, time to discharge.</a:t>
            </a:r>
          </a:p>
          <a:p>
            <a:r>
              <a:rPr lang="en-US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2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survival function </a:t>
            </a:r>
            <a:r>
              <a:rPr lang="en-US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the probability that the survival time is greater than or equal to a time (t), which is the observed value of a random variable (T) with distribution F(t) (Peace, 2009).</a:t>
            </a:r>
          </a:p>
          <a:p>
            <a:r>
              <a:rPr lang="en-US" sz="2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Survival ratio and difference are used to estimate relative and absolute difference in survival, respectively (Newell et al., 2006).</a:t>
            </a:r>
            <a:endParaRPr lang="en-US" sz="2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5A3E7-81FF-5AFB-5A26-2E0A33EF0B3C}"/>
              </a:ext>
            </a:extLst>
          </p:cNvPr>
          <p:cNvSpPr txBox="1"/>
          <p:nvPr/>
        </p:nvSpPr>
        <p:spPr>
          <a:xfrm>
            <a:off x="5348177" y="6172200"/>
            <a:ext cx="64475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Collett, D. (2023). </a:t>
            </a:r>
            <a:r>
              <a:rPr lang="en-IE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Modelling Survival Data in Medical Research</a:t>
            </a:r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Taylor &amp; Francis.</a:t>
            </a:r>
          </a:p>
          <a:p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Peace, K. E. (2009). </a:t>
            </a:r>
            <a:r>
              <a:rPr lang="en-IE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Design and Analysis of Clinical Trials with Time-to-Event Endpoints</a:t>
            </a:r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CRC Press.</a:t>
            </a:r>
          </a:p>
          <a:p>
            <a:r>
              <a:rPr lang="en-IE" sz="1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Newell, J., Kay, J. W., &amp; Aitchison, T. C. (2006). Survival ratio plots with permutation envelopes in survival data problems.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166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35CF-007A-9D9E-9D61-122AB70F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4D7C-8FF0-5A85-C8D6-EED84F834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Clinicians face challenges including: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understanding standard survival visualizations on probability scales, </a:t>
            </a:r>
            <a:r>
              <a:rPr lang="en-US" i="1" dirty="0"/>
              <a:t>such as the KM and survival difference plot</a:t>
            </a:r>
            <a:r>
              <a:rPr lang="en-US" dirty="0"/>
              <a:t>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Translation of survival outcome to patients.</a:t>
            </a:r>
          </a:p>
          <a:p>
            <a:r>
              <a:rPr lang="en-US" dirty="0"/>
              <a:t>The Mean Residual Life (MRL) function is an alternative approach for communicating survival outcomes to patients.</a:t>
            </a:r>
          </a:p>
          <a:p>
            <a:r>
              <a:rPr lang="en-US" dirty="0"/>
              <a:t>The </a:t>
            </a:r>
            <a:r>
              <a:rPr lang="en-US" b="1" dirty="0"/>
              <a:t>MRL</a:t>
            </a:r>
            <a:r>
              <a:rPr lang="en-US" dirty="0"/>
              <a:t> </a:t>
            </a:r>
            <a:r>
              <a:rPr lang="en-US" b="1" dirty="0"/>
              <a:t>function </a:t>
            </a:r>
            <a:r>
              <a:rPr lang="en-US" dirty="0"/>
              <a:t>provides a clear and simple summary of the effect of a treatment or a risk factor </a:t>
            </a:r>
            <a:r>
              <a:rPr lang="en-US" b="1" dirty="0"/>
              <a:t>in units of time, </a:t>
            </a:r>
            <a:r>
              <a:rPr lang="en-US" dirty="0"/>
              <a:t>avoiding probability scales, which require careful interpretation. (Alvarez-Iglesias et al., 2015).</a:t>
            </a:r>
          </a:p>
          <a:p>
            <a:r>
              <a:rPr lang="en-US" dirty="0"/>
              <a:t>There was no prior study about the preference of clinicians between Survival and MRL function.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53CD4-0619-58D1-300B-B56C884CF0D3}"/>
              </a:ext>
            </a:extLst>
          </p:cNvPr>
          <p:cNvSpPr txBox="1"/>
          <p:nvPr/>
        </p:nvSpPr>
        <p:spPr>
          <a:xfrm>
            <a:off x="1503680" y="5984240"/>
            <a:ext cx="10312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Statistics in Medicine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34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(11), 1965–1976.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9166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7467-3608-B16E-C620-8BD925A4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+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CB8A-D8A6-6B31-EB72-477975D4B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time-to-event visualization: survival versus MRL function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Kaplan-Meier Plot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Survival difference Plot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 Residual Life (MRL)plot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 Residual Life (MRL) difference plot </a:t>
            </a:r>
          </a:p>
          <a:p>
            <a:r>
              <a:rPr lang="en-US" dirty="0"/>
              <a:t>Assess knowledge and preference of medical doctors and students on time to event data visualization </a:t>
            </a:r>
            <a:r>
              <a:rPr lang="en-US" dirty="0">
                <a:sym typeface="Wingdings" panose="05000000000000000000" pitchFamily="2" charset="2"/>
              </a:rPr>
              <a:t>online survey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Dataset</a:t>
            </a:r>
          </a:p>
          <a:p>
            <a:pPr lvl="1"/>
            <a:r>
              <a:rPr lang="en-US" dirty="0"/>
              <a:t>Open Access </a:t>
            </a:r>
          </a:p>
          <a:p>
            <a:pPr lvl="1"/>
            <a:r>
              <a:rPr lang="en-US" dirty="0"/>
              <a:t>NIH National Cancer Institute, TCGA Program on a project called “Breast invasive carcinoma (BRCA)”.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3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D993-2F02-FCFA-1069-8AD65641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FUNCTION  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F1B8EF-84A1-E8A6-4040-7A7156CBF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42" y="1881963"/>
            <a:ext cx="11179980" cy="4040371"/>
          </a:xfrm>
        </p:spPr>
      </p:pic>
    </p:spTree>
    <p:extLst>
      <p:ext uri="{BB962C8B-B14F-4D97-AF65-F5344CB8AC3E}">
        <p14:creationId xmlns:p14="http://schemas.microsoft.com/office/powerpoint/2010/main" val="65001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96EF-FBE7-46D7-5613-F8E09ADF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KM AND SURVIVAL DIFFERENCE PLOTS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CA613C-4C6E-157B-E19D-FE1CC5376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04" y="149621"/>
            <a:ext cx="8941981" cy="670837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D5EA94-C140-9EE7-D1C6-56264B4C0906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04" y="75313"/>
            <a:ext cx="8941981" cy="6706487"/>
          </a:xfrm>
        </p:spPr>
      </p:pic>
    </p:spTree>
    <p:extLst>
      <p:ext uri="{BB962C8B-B14F-4D97-AF65-F5344CB8AC3E}">
        <p14:creationId xmlns:p14="http://schemas.microsoft.com/office/powerpoint/2010/main" val="213434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A398-9CF2-9854-AE73-C8C186B5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Residual Life (MRL)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3D757F-EE0D-F371-46F2-086DB5E74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2202" y="3752507"/>
            <a:ext cx="5382730" cy="2467540"/>
          </a:xfrm>
        </p:spPr>
      </p:pic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886DA16F-C685-7D6B-611C-3BB7BC8AB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352" y="1676400"/>
            <a:ext cx="9799230" cy="2076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9CB38-5E5C-1B80-639B-ACE934C9DDFF}"/>
              </a:ext>
            </a:extLst>
          </p:cNvPr>
          <p:cNvSpPr txBox="1"/>
          <p:nvPr/>
        </p:nvSpPr>
        <p:spPr>
          <a:xfrm>
            <a:off x="1104900" y="6309360"/>
            <a:ext cx="10660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Statistics in Medicine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34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(11), 1965–1976.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644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23BD-62EC-83B9-F282-5FDCDB56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MRL &amp; Difference in MRL 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ED2B10-05B9-F719-EECE-B49A3EF21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311" y="295110"/>
            <a:ext cx="8542750" cy="626777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6A8F44-1674-B063-93E2-2D30E5D51B5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98" y="86783"/>
            <a:ext cx="8808563" cy="6464165"/>
          </a:xfrm>
        </p:spPr>
      </p:pic>
    </p:spTree>
    <p:extLst>
      <p:ext uri="{BB962C8B-B14F-4D97-AF65-F5344CB8AC3E}">
        <p14:creationId xmlns:p14="http://schemas.microsoft.com/office/powerpoint/2010/main" val="241921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00879C-94F0-ABB7-5871-2517D4D8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9" y="1434108"/>
            <a:ext cx="4231509" cy="5112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2CCA6-E0A9-E5D8-6578-3DCF6A32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24" y="1399646"/>
            <a:ext cx="4551058" cy="503901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280D09-52AA-D655-BC47-F35ED63F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8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E08C-9B74-253C-B935-C4A24EA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7D94-06F6-A21E-5BEA-9F40D4FF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Survey: clinicians’ perspectives on survival data visualization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0D60-67D4-0213-F80C-6206966FE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2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SURVEY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5A99C-4F44-ED07-8EA4-4F9FC6B3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population: Medical Students &amp; Doctors </a:t>
            </a:r>
          </a:p>
          <a:p>
            <a:r>
              <a:rPr lang="en-US" dirty="0"/>
              <a:t>Data collection: anonymous online survey (Google form)</a:t>
            </a:r>
          </a:p>
          <a:p>
            <a:r>
              <a:rPr lang="en-US" dirty="0"/>
              <a:t>Convenience sampling (Voluntary, no randomization) </a:t>
            </a:r>
          </a:p>
          <a:p>
            <a:r>
              <a:rPr lang="en-US" dirty="0"/>
              <a:t>No ethical approval required </a:t>
            </a:r>
          </a:p>
          <a:p>
            <a:r>
              <a:rPr lang="en-US" dirty="0"/>
              <a:t>Data collection Period:  15</a:t>
            </a:r>
            <a:r>
              <a:rPr lang="en-US" baseline="30000" dirty="0"/>
              <a:t>th</a:t>
            </a:r>
            <a:r>
              <a:rPr lang="en-US" dirty="0"/>
              <a:t> April - 20</a:t>
            </a:r>
            <a:r>
              <a:rPr lang="en-US" baseline="30000" dirty="0"/>
              <a:t>th</a:t>
            </a:r>
            <a:r>
              <a:rPr lang="en-US" dirty="0"/>
              <a:t> May 2025 (5 weeks)</a:t>
            </a:r>
          </a:p>
          <a:p>
            <a:r>
              <a:rPr lang="en-US" dirty="0"/>
              <a:t>Outcome :</a:t>
            </a:r>
          </a:p>
          <a:p>
            <a:pPr lvl="1"/>
            <a:r>
              <a:rPr lang="en-US" dirty="0"/>
              <a:t>Proportion of correct interpretation before and after the provision of the correct interpretations</a:t>
            </a:r>
          </a:p>
          <a:p>
            <a:pPr lvl="1"/>
            <a:r>
              <a:rPr lang="en-US" dirty="0"/>
              <a:t>preferences across KM, survival difference, MRL, and MRL difference plot for clinicians’ understanding and patients’ communication.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F2EC-FC28-ABBF-D0E3-AAE8A3B5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QUESTIONNAIRE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68D9-5E46-518D-44CC-DAA7A246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Demographic information (Country and Qualification)</a:t>
            </a:r>
          </a:p>
          <a:p>
            <a:r>
              <a:rPr lang="en-US" dirty="0"/>
              <a:t>Self-rated knowledge on survival analysis (1 to 10 scale)</a:t>
            </a:r>
          </a:p>
          <a:p>
            <a:r>
              <a:rPr lang="en-US" dirty="0"/>
              <a:t>Four plots for interpretation (Pre-assessment)</a:t>
            </a:r>
          </a:p>
          <a:p>
            <a:r>
              <a:rPr lang="en-US" dirty="0"/>
              <a:t>Provision of correct interpretations for the pre-assessment </a:t>
            </a:r>
            <a:r>
              <a:rPr lang="en-US" b="1" dirty="0"/>
              <a:t>(learning section)</a:t>
            </a:r>
          </a:p>
          <a:p>
            <a:r>
              <a:rPr lang="en-US" dirty="0"/>
              <a:t>New plots for interpretation(Post- assessment)</a:t>
            </a:r>
          </a:p>
          <a:p>
            <a:r>
              <a:rPr lang="en-US" dirty="0"/>
              <a:t>Ranking 1: plot easy to understand by clinician (easy to hard)</a:t>
            </a:r>
          </a:p>
          <a:p>
            <a:r>
              <a:rPr lang="en-US" dirty="0"/>
              <a:t>Ranking 2: plot that clinician prefer to use in consultation with the patient(easy to hard)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53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&amp; Result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total, 32 responses were analyzed</a:t>
            </a:r>
          </a:p>
          <a:p>
            <a:r>
              <a:rPr lang="en-US" dirty="0"/>
              <a:t>75% of respondent's self-rated =&lt; 5 /10 on survival knowledge.</a:t>
            </a:r>
          </a:p>
          <a:p>
            <a:r>
              <a:rPr lang="en-US" dirty="0"/>
              <a:t>Data analysis (NVivo and R)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DF83C1-8E79-C8E9-8887-8861C82C11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070" y="1443727"/>
            <a:ext cx="4408861" cy="4512680"/>
          </a:xfrm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7081-82F7-5BED-2345-30C56A1F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3AB8-DF2D-B5C1-F0F7-5BCA5696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B45DEE-60D1-4E84-AE75-E0259750D7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9" y="135300"/>
            <a:ext cx="10158968" cy="6095379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AEA6E51-5AA4-6A7B-4956-BADA68D0EC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8" y="76200"/>
            <a:ext cx="10471427" cy="6282854"/>
          </a:xfrm>
        </p:spPr>
      </p:pic>
    </p:spTree>
    <p:extLst>
      <p:ext uri="{BB962C8B-B14F-4D97-AF65-F5344CB8AC3E}">
        <p14:creationId xmlns:p14="http://schemas.microsoft.com/office/powerpoint/2010/main" val="259010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Gain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9C40467-B185-06C5-935B-D64C6A7D5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27" y="566716"/>
            <a:ext cx="9794356" cy="5876614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ED9483-593D-5934-9976-10ACFEB1B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28" y="90378"/>
            <a:ext cx="10588254" cy="63529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3F5F79-27E9-EEBE-1B94-9A0BB16A1AF5}"/>
              </a:ext>
            </a:extLst>
          </p:cNvPr>
          <p:cNvSpPr txBox="1"/>
          <p:nvPr/>
        </p:nvSpPr>
        <p:spPr>
          <a:xfrm>
            <a:off x="1020726" y="2088129"/>
            <a:ext cx="1456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p value= 0.027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6380F0-9241-C396-7F28-02C0D08CED9F}"/>
              </a:ext>
            </a:extLst>
          </p:cNvPr>
          <p:cNvSpPr txBox="1"/>
          <p:nvPr/>
        </p:nvSpPr>
        <p:spPr>
          <a:xfrm>
            <a:off x="1020728" y="3253563"/>
            <a:ext cx="1456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p value=0.0095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2C61C2-7855-9F04-0B55-ADB03630D7ED}"/>
              </a:ext>
            </a:extLst>
          </p:cNvPr>
          <p:cNvSpPr txBox="1"/>
          <p:nvPr/>
        </p:nvSpPr>
        <p:spPr>
          <a:xfrm>
            <a:off x="1104900" y="4603898"/>
            <a:ext cx="1372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 value=0.547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207E71-5DF7-6C7A-F90F-AE404F61BC98}"/>
              </a:ext>
            </a:extLst>
          </p:cNvPr>
          <p:cNvSpPr txBox="1"/>
          <p:nvPr/>
        </p:nvSpPr>
        <p:spPr>
          <a:xfrm>
            <a:off x="1020727" y="5826642"/>
            <a:ext cx="145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 value= 0.096</a:t>
            </a:r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55E503-5484-AE44-B41C-5F76A1CF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Gain -  Regression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CFD1-F72C-08AF-1E95-8E97F1369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3E9AD7-B7C8-89E5-3EDB-296F02E25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562974"/>
            <a:ext cx="9980682" cy="579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0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05DC-88CD-274A-50BE-BB0CFC93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162CF3-B42C-6D87-F2F5-2143FBD11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D4FE72-9804-A60F-0D10-C8B6914D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66" y="372140"/>
            <a:ext cx="10429960" cy="599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9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29E101-983D-45B3-53E0-67E78026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distribution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AD24B-5F91-4561-0512-96FB083851CA}"/>
              </a:ext>
            </a:extLst>
          </p:cNvPr>
          <p:cNvSpPr txBox="1"/>
          <p:nvPr/>
        </p:nvSpPr>
        <p:spPr>
          <a:xfrm>
            <a:off x="2692400" y="2011680"/>
            <a:ext cx="701040" cy="185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CDFC49-8F56-0164-B190-13DBCABCD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12" y="563526"/>
            <a:ext cx="10490791" cy="6294474"/>
          </a:xfrm>
        </p:spPr>
      </p:pic>
    </p:spTree>
    <p:extLst>
      <p:ext uri="{BB962C8B-B14F-4D97-AF65-F5344CB8AC3E}">
        <p14:creationId xmlns:p14="http://schemas.microsoft.com/office/powerpoint/2010/main" val="15048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CE40-5F80-BDBB-C29B-468FFBB2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changes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66C893-8D7A-2C52-C01E-1BB6CF8B1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395" y="1396054"/>
            <a:ext cx="8867554" cy="5320532"/>
          </a:xfrm>
        </p:spPr>
      </p:pic>
    </p:spTree>
    <p:extLst>
      <p:ext uri="{BB962C8B-B14F-4D97-AF65-F5344CB8AC3E}">
        <p14:creationId xmlns:p14="http://schemas.microsoft.com/office/powerpoint/2010/main" val="225420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9B49-1EE8-B31B-03A0-814A7F2C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 &amp; LIMITATIONS OF THE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CC00-A9CC-E230-36A7-20412AC4D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Novel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Mixed-methods Approach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Primary data collection </a:t>
            </a:r>
          </a:p>
          <a:p>
            <a:r>
              <a:rPr lang="en-US" dirty="0"/>
              <a:t>Limitation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Convenience sampling </a:t>
            </a:r>
            <a:r>
              <a:rPr lang="en-US" dirty="0">
                <a:sym typeface="Wingdings" panose="05000000000000000000" pitchFamily="2" charset="2"/>
              </a:rPr>
              <a:t> Risk of bias, and limited generalizability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uncontrolled survey environment setting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Short data collection period  and limited </a:t>
            </a:r>
            <a:r>
              <a:rPr lang="en-US"/>
              <a:t>sample size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C01E-7895-5E95-05CD-672EA3E8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CC483-2AED-6D67-57AE-2FA9C394F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limited knowledge in survival plot interpretation among medical doctors and students.</a:t>
            </a:r>
          </a:p>
          <a:p>
            <a:r>
              <a:rPr lang="en-US" dirty="0"/>
              <a:t>The respondents are more familiar with the Kaplan-Meier graph compared to the other presented graphs. However, they were learning still learning an effect.</a:t>
            </a:r>
          </a:p>
          <a:p>
            <a:r>
              <a:rPr lang="en-US" dirty="0"/>
              <a:t>MRL function is a new concept for clinicians.</a:t>
            </a:r>
          </a:p>
          <a:p>
            <a:r>
              <a:rPr lang="en-US" dirty="0"/>
              <a:t>MRL plot has the highest and significant improvement in accuracy of interpretations -</a:t>
            </a:r>
            <a:r>
              <a:rPr lang="en-US" dirty="0">
                <a:sym typeface="Wingdings" panose="05000000000000000000" pitchFamily="2" charset="2"/>
              </a:rPr>
              <a:t> thus, it’s </a:t>
            </a:r>
            <a:r>
              <a:rPr lang="en-US" b="1" dirty="0">
                <a:sym typeface="Wingdings" panose="05000000000000000000" pitchFamily="2" charset="2"/>
              </a:rPr>
              <a:t>easy to learn and apply.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WAY FORWARD: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The survey is still ongoing to collect more insights from clinicians (pilot).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Conduct a main study in a controlled setting.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638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B476-C297-8CD5-383C-89ECB26E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B2323C-9877-7B77-6FF2-8C063EEF20A7}"/>
              </a:ext>
            </a:extLst>
          </p:cNvPr>
          <p:cNvSpPr txBox="1"/>
          <p:nvPr/>
        </p:nvSpPr>
        <p:spPr>
          <a:xfrm>
            <a:off x="81280" y="193040"/>
            <a:ext cx="11927840" cy="7076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REFERENCES 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>
              <a:spcAft>
                <a:spcPts val="800"/>
              </a:spcAft>
              <a:buNone/>
            </a:pP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 in Medicine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34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(11), 1965–1976. </a:t>
            </a:r>
          </a:p>
          <a:p>
            <a:pPr lvl="1"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https://doi.org/10.1002/sim.6431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457200"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Collett, D. (2023).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Survival Data in Medical Research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Taylor &amp; Francis. https://books.google.ie/books?id=rIp0zwEACAAJ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Peace, K. E. (2009).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and Analysis of Clinical Trials with Time-to-Event Endpoints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CRC Press. 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https://books.google.ie/books?id=3f_LBQAAQBAJ</a:t>
            </a:r>
            <a:endParaRPr lang="en-I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Portal.gdc.cancer.gov/projects/TCGA-BRCA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(n.d.). Retrieved May 26, 2025, </a:t>
            </a: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https://portal.gdc.cancer.gov/projects/TCGA-BRCA</a:t>
            </a:r>
            <a:endParaRPr lang="en-IE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Newell, J., Kay, J. W., &amp; Aitchison, T. C. (2006). Survival ratio plots with permutation envelopes in survival data problems.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Computers in Biology and Medicine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(5), 526–541. </a:t>
            </a: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https://doi.org/10.1016/j.compbiomed.2005.03.005</a:t>
            </a:r>
            <a:endParaRPr lang="en-IE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endParaRPr lang="en-IE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823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ED62F-4265-2516-21CC-45BAAC8C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1238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2D6B-D0F5-C9A7-C600-60C305D5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4617-1DF4-DF12-C21A-4F133E85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ANNEX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6D4F6-2BEF-F130-AF9B-7EA6E82F9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used per need  or during Q&amp;A</a:t>
            </a:r>
          </a:p>
        </p:txBody>
      </p:sp>
    </p:spTree>
    <p:extLst>
      <p:ext uri="{BB962C8B-B14F-4D97-AF65-F5344CB8AC3E}">
        <p14:creationId xmlns:p14="http://schemas.microsoft.com/office/powerpoint/2010/main" val="177254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EF75A0-A210-C035-377A-8E89234A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POST: Survival function plots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ABF6CF-94AB-3014-1DCB-D42183A128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43113"/>
            <a:ext cx="4914900" cy="3686174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122274-FE4C-2DE9-1BB7-77A06AD140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43113"/>
            <a:ext cx="4914900" cy="3686174"/>
          </a:xfrm>
        </p:spPr>
      </p:pic>
    </p:spTree>
    <p:extLst>
      <p:ext uri="{BB962C8B-B14F-4D97-AF65-F5344CB8AC3E}">
        <p14:creationId xmlns:p14="http://schemas.microsoft.com/office/powerpoint/2010/main" val="177534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9138-F699-429D-FE22-ACEE54A3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POST= MRL PLOTS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FC4D5A-91A4-5063-19B4-684BCCBA41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83180"/>
            <a:ext cx="4914900" cy="360604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61F0F7-6F78-7DFC-23DC-773B994592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180"/>
            <a:ext cx="4914900" cy="3606040"/>
          </a:xfrm>
        </p:spPr>
      </p:pic>
    </p:spTree>
    <p:extLst>
      <p:ext uri="{BB962C8B-B14F-4D97-AF65-F5344CB8AC3E}">
        <p14:creationId xmlns:p14="http://schemas.microsoft.com/office/powerpoint/2010/main" val="382384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985C4B-E3C0-5FD0-C5CF-D70D0E77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82953C-EC20-98E5-EB4A-DBECCB75C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31" y="76200"/>
            <a:ext cx="10448115" cy="6451711"/>
          </a:xfrm>
        </p:spPr>
      </p:pic>
    </p:spTree>
    <p:extLst>
      <p:ext uri="{BB962C8B-B14F-4D97-AF65-F5344CB8AC3E}">
        <p14:creationId xmlns:p14="http://schemas.microsoft.com/office/powerpoint/2010/main" val="280480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2932</TotalTime>
  <Words>1322</Words>
  <Application>Microsoft Office PowerPoint</Application>
  <PresentationFormat>Widescreen</PresentationFormat>
  <Paragraphs>148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CMR10</vt:lpstr>
      <vt:lpstr>CMTI10</vt:lpstr>
      <vt:lpstr>Courier New</vt:lpstr>
      <vt:lpstr>Euphemia</vt:lpstr>
      <vt:lpstr>Euphemia(body)</vt:lpstr>
      <vt:lpstr>Plantagenet Cherokee</vt:lpstr>
      <vt:lpstr>Wingdings</vt:lpstr>
      <vt:lpstr>Academic Literature 16x9</vt:lpstr>
      <vt:lpstr>Novel approaches for  visualising time-to-event data</vt:lpstr>
      <vt:lpstr>PRESENTATION OUTLINE</vt:lpstr>
      <vt:lpstr>BACKGROUND</vt:lpstr>
      <vt:lpstr>PROBLEM STATEMENT</vt:lpstr>
      <vt:lpstr>OBJECTIVE + DATASET</vt:lpstr>
      <vt:lpstr>SURVIVAL FUNCTION   </vt:lpstr>
      <vt:lpstr>KM AND SURVIVAL DIFFERENCE PLOTS </vt:lpstr>
      <vt:lpstr>Mean Residual Life (MRL) Function</vt:lpstr>
      <vt:lpstr>MRL &amp; Difference in MRL  plot </vt:lpstr>
      <vt:lpstr>PowerPoint Presentation</vt:lpstr>
      <vt:lpstr>Survey: clinicians’ perspectives on survival data visualization </vt:lpstr>
      <vt:lpstr>SURVEY DESCRIPTION</vt:lpstr>
      <vt:lpstr>QUESTIONNAIRE STRUCTURE</vt:lpstr>
      <vt:lpstr>Demography &amp; Result 1 </vt:lpstr>
      <vt:lpstr>PowerPoint Presentation</vt:lpstr>
      <vt:lpstr>Knowledge Gain </vt:lpstr>
      <vt:lpstr>Knowledge Gain -  Regression Tree </vt:lpstr>
      <vt:lpstr>PowerPoint Presentation</vt:lpstr>
      <vt:lpstr>Ranking distribution </vt:lpstr>
      <vt:lpstr>Ranking changes </vt:lpstr>
      <vt:lpstr>STRENGTH &amp; LIMITATIONS OF THE STUDY </vt:lpstr>
      <vt:lpstr>CONCLUSION </vt:lpstr>
      <vt:lpstr>PowerPoint Presentation</vt:lpstr>
      <vt:lpstr>THANK YOU!</vt:lpstr>
      <vt:lpstr>ANNEX</vt:lpstr>
      <vt:lpstr>POST: Survival function plots </vt:lpstr>
      <vt:lpstr>POST= MRL PLOTS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Pacifique Rwandarwacu</dc:creator>
  <cp:lastModifiedBy>Victor Pacifique Rwandarwacu</cp:lastModifiedBy>
  <cp:revision>26</cp:revision>
  <dcterms:created xsi:type="dcterms:W3CDTF">2025-05-23T20:21:26Z</dcterms:created>
  <dcterms:modified xsi:type="dcterms:W3CDTF">2025-05-28T09:15:10Z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