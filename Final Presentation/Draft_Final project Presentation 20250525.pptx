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56" r:id="rId5"/>
    <p:sldId id="257" r:id="rId6"/>
    <p:sldId id="272" r:id="rId7"/>
    <p:sldId id="285" r:id="rId8"/>
    <p:sldId id="273" r:id="rId9"/>
    <p:sldId id="275" r:id="rId10"/>
    <p:sldId id="277" r:id="rId11"/>
    <p:sldId id="276" r:id="rId12"/>
    <p:sldId id="278" r:id="rId13"/>
    <p:sldId id="269" r:id="rId14"/>
    <p:sldId id="263" r:id="rId15"/>
    <p:sldId id="279" r:id="rId16"/>
    <p:sldId id="259" r:id="rId17"/>
    <p:sldId id="270" r:id="rId18"/>
    <p:sldId id="265" r:id="rId19"/>
    <p:sldId id="283" r:id="rId20"/>
    <p:sldId id="284" r:id="rId21"/>
    <p:sldId id="280" r:id="rId22"/>
    <p:sldId id="282" r:id="rId23"/>
    <p:sldId id="281" r:id="rId24"/>
    <p:sldId id="289" r:id="rId25"/>
    <p:sldId id="274" r:id="rId26"/>
    <p:sldId id="288" r:id="rId27"/>
    <p:sldId id="286" r:id="rId28"/>
    <p:sldId id="287" r:id="rId29"/>
    <p:sldId id="29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280" autoAdjust="0"/>
  </p:normalViewPr>
  <p:slideViewPr>
    <p:cSldViewPr snapToGrid="0" showGuides="1">
      <p:cViewPr varScale="1">
        <p:scale>
          <a:sx n="60" d="100"/>
          <a:sy n="60" d="100"/>
        </p:scale>
        <p:origin x="84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5/25/2025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5/25/2025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step function nature of KM </a:t>
            </a:r>
          </a:p>
          <a:p>
            <a:r>
              <a:rPr lang="en-US" sz="1800" b="0" i="1" u="none" strike="noStrike" baseline="0" dirty="0">
                <a:latin typeface="CMTI10"/>
              </a:rPr>
              <a:t>Greenwood’s formula</a:t>
            </a:r>
            <a:r>
              <a:rPr lang="en-US" sz="1800" b="0" i="0" u="none" strike="noStrike" baseline="0" dirty="0">
                <a:latin typeface="CMR10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93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GPD </a:t>
            </a:r>
          </a:p>
          <a:p>
            <a:r>
              <a:rPr lang="en-US" dirty="0"/>
              <a:t>Extreme value Theory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5954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Rates 5 and 1  were the most prevalent, with frequencies of 7 and 6 respectively </a:t>
            </a:r>
          </a:p>
          <a:p>
            <a:r>
              <a:rPr lang="en-US" dirty="0"/>
              <a:t>Do those who say they know actually know?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058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was more improvement on the Mean residual Life plot (Pre versus post)-</a:t>
            </a:r>
            <a:r>
              <a:rPr lang="en-US" dirty="0">
                <a:sym typeface="Wingdings" panose="05000000000000000000" pitchFamily="2" charset="2"/>
              </a:rPr>
              <a:t> New knowledge and easy to grasp </a:t>
            </a:r>
          </a:p>
          <a:p>
            <a:r>
              <a:rPr lang="en-US" dirty="0">
                <a:sym typeface="Wingdings" panose="05000000000000000000" pitchFamily="2" charset="2"/>
              </a:rPr>
              <a:t>Overall learning effect was positive for those with lower self-rated knowledge.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32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was no knowledge gain for clinicians who scored above 50% in pretest </a:t>
            </a:r>
          </a:p>
          <a:p>
            <a:r>
              <a:rPr lang="en-US" dirty="0"/>
              <a:t>There was country variations and qualification </a:t>
            </a:r>
          </a:p>
          <a:p>
            <a:r>
              <a:rPr lang="en-US" dirty="0"/>
              <a:t>Self-rated knowledge  positive  but minimal effect on knowledge gain.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07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was a noticeable increase in the accuracy of interpretation for MRL. </a:t>
            </a:r>
          </a:p>
          <a:p>
            <a:r>
              <a:rPr lang="en-US" dirty="0"/>
              <a:t>The correct interpretations were more from general practitioner   from </a:t>
            </a:r>
            <a:r>
              <a:rPr lang="en-US" dirty="0" err="1"/>
              <a:t>Ethiopia,Ireland,Portugal,spain</a:t>
            </a:r>
            <a:r>
              <a:rPr lang="en-US" dirty="0"/>
              <a:t> and Switzerland.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64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59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5/25/2025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5/25/2025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5/25/2025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5/25/2025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5/25/2025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5/25/2025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5/25/2025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5/25/2025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5/25/2025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5/25/2025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5/25/2025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s.google.ie/books?id=3f_LBQAAQBAJ" TargetMode="External"/><Relationship Id="rId2" Type="http://schemas.openxmlformats.org/officeDocument/2006/relationships/hyperlink" Target="https://doi.org/10.1002/sim.6431" TargetMode="Externa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doi.org/10.1016/j.compbiomed.2005.03.005" TargetMode="External"/><Relationship Id="rId4" Type="http://schemas.openxmlformats.org/officeDocument/2006/relationships/hyperlink" Target="https://portal.gdc.cancer.gov/projects/TCGA-BRCA" TargetMode="Externa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b="1" dirty="0"/>
              <a:t>Novel approaches for  visualizing time to event data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Presenter: </a:t>
            </a:r>
            <a:r>
              <a:rPr lang="en-US" dirty="0"/>
              <a:t>Victor Pacifique Rwandarwacu </a:t>
            </a:r>
          </a:p>
          <a:p>
            <a:endParaRPr lang="en-US" dirty="0"/>
          </a:p>
          <a:p>
            <a:r>
              <a:rPr lang="en-US" b="1" dirty="0"/>
              <a:t>Supervisor: </a:t>
            </a:r>
            <a:r>
              <a:rPr lang="en-US" dirty="0"/>
              <a:t>Prof. John Newell</a:t>
            </a:r>
          </a:p>
        </p:txBody>
      </p:sp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PRESENTATION OUTLINE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Background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Definition +rationale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Problem statement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Overview: (Survival function, Mean Residual Life (MRL) function 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Dataset </a:t>
            </a:r>
          </a:p>
          <a:p>
            <a:r>
              <a:rPr lang="en-US" dirty="0"/>
              <a:t>Method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Online Survey: clinicians’ knowledge and perspectives on survival data visualization.</a:t>
            </a:r>
          </a:p>
          <a:p>
            <a:r>
              <a:rPr lang="en-US" dirty="0"/>
              <a:t>Result </a:t>
            </a:r>
          </a:p>
          <a:p>
            <a:r>
              <a:rPr lang="en-US" dirty="0"/>
              <a:t>Discussion </a:t>
            </a:r>
          </a:p>
          <a:p>
            <a:pPr lvl="1"/>
            <a:r>
              <a:rPr lang="en-US" dirty="0"/>
              <a:t>Strength </a:t>
            </a:r>
          </a:p>
          <a:p>
            <a:pPr lvl="1"/>
            <a:r>
              <a:rPr lang="en-US" dirty="0"/>
              <a:t>Limitations </a:t>
            </a:r>
          </a:p>
          <a:p>
            <a:r>
              <a:rPr lang="en-US" dirty="0"/>
              <a:t>Conclusion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CC2F-F990-B97A-99A2-781118DC0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D6CA2-264E-A555-1AB9-451853B90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kern="100" dirty="0">
                <a:effectLst/>
                <a:latin typeface="Euphemia(body)"/>
                <a:ea typeface="Calibri" panose="020F0502020204030204" pitchFamily="34" charset="0"/>
                <a:cs typeface="Times New Roman" panose="02020603050405020304" pitchFamily="18" charset="0"/>
              </a:rPr>
              <a:t>Time-to-event or survival Analysis is the analysis of data in the form of times from a </a:t>
            </a:r>
            <a:r>
              <a:rPr lang="en-IE" b="1" kern="100" dirty="0">
                <a:effectLst/>
                <a:latin typeface="Euphemia(body)"/>
                <a:ea typeface="Calibri" panose="020F0502020204030204" pitchFamily="34" charset="0"/>
                <a:cs typeface="Times New Roman" panose="02020603050405020304" pitchFamily="18" charset="0"/>
              </a:rPr>
              <a:t>well-defined time origin </a:t>
            </a:r>
            <a:r>
              <a:rPr lang="en-IE" kern="100" dirty="0">
                <a:effectLst/>
                <a:latin typeface="Euphemia(body)"/>
                <a:ea typeface="Calibri" panose="020F0502020204030204" pitchFamily="34" charset="0"/>
                <a:cs typeface="Times New Roman" panose="02020603050405020304" pitchFamily="18" charset="0"/>
              </a:rPr>
              <a:t>until the occurrence of an event of interest</a:t>
            </a:r>
            <a:r>
              <a:rPr lang="en-IE" kern="100" dirty="0">
                <a:effectLst/>
                <a:latin typeface="Euphemia(body)"/>
                <a:ea typeface="Calibri" panose="020F0502020204030204" pitchFamily="34" charset="0"/>
                <a:cs typeface="Calibri" panose="020F0502020204030204" pitchFamily="34" charset="0"/>
              </a:rPr>
              <a:t>(Collett, 2023).</a:t>
            </a:r>
            <a:r>
              <a:rPr lang="en-IE" kern="100" dirty="0">
                <a:effectLst/>
                <a:latin typeface="Euphemia(body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kern="100" dirty="0">
              <a:effectLst/>
              <a:latin typeface="Euphemia(body)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dirty="0"/>
              <a:t>Survival data are generally </a:t>
            </a:r>
            <a:r>
              <a:rPr lang="en-US" b="1" dirty="0"/>
              <a:t>asymmetric </a:t>
            </a:r>
            <a:r>
              <a:rPr lang="en-US" dirty="0"/>
              <a:t>and </a:t>
            </a:r>
            <a:r>
              <a:rPr lang="en-US" b="1" dirty="0"/>
              <a:t>censored, </a:t>
            </a:r>
            <a:r>
              <a:rPr lang="en-US" dirty="0"/>
              <a:t>requiring a specific approach to analysis and visualization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i="1" dirty="0" err="1"/>
              <a:t>e.g</a:t>
            </a:r>
            <a:r>
              <a:rPr lang="en-US" i="1" dirty="0"/>
              <a:t>, Survival and Hazard function, KM estimator &amp; plot, etc.</a:t>
            </a:r>
          </a:p>
          <a:p>
            <a:r>
              <a:rPr lang="en-US" dirty="0"/>
              <a:t>Survival analysis has many applications in clinical practice, </a:t>
            </a:r>
            <a:r>
              <a:rPr lang="en-US" i="1" dirty="0" err="1"/>
              <a:t>ie</a:t>
            </a:r>
            <a:r>
              <a:rPr lang="en-US" i="1" dirty="0"/>
              <a:t>. time to recurrence, time to remission </a:t>
            </a:r>
          </a:p>
          <a:p>
            <a:r>
              <a:rPr lang="en-US" sz="2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</a:t>
            </a:r>
            <a:r>
              <a:rPr lang="en-US" sz="22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survival function </a:t>
            </a:r>
            <a:r>
              <a:rPr lang="en-US" sz="22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is the probability that the survival time is greater than or equal to a time (t), which is the observed value of a random variable (T) with distribution F(t) (Peace, 2009)</a:t>
            </a:r>
          </a:p>
          <a:p>
            <a:r>
              <a:rPr lang="en-US" sz="2200" kern="100" dirty="0">
                <a:ea typeface="Calibri" panose="020F0502020204030204" pitchFamily="34" charset="0"/>
                <a:cs typeface="Times New Roman" panose="02020603050405020304" pitchFamily="18" charset="0"/>
              </a:rPr>
              <a:t>Survival ratio and difference are used to estimate relative and absolute difference respectively (Newell et al., 2006)</a:t>
            </a:r>
            <a:endParaRPr lang="en-US" sz="2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25A3E7-81FF-5AFB-5A26-2E0A33EF0B3C}"/>
              </a:ext>
            </a:extLst>
          </p:cNvPr>
          <p:cNvSpPr txBox="1"/>
          <p:nvPr/>
        </p:nvSpPr>
        <p:spPr>
          <a:xfrm>
            <a:off x="5348177" y="6172200"/>
            <a:ext cx="64475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Collett, D. (2023). </a:t>
            </a:r>
            <a:r>
              <a:rPr lang="en-IE" sz="10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Modelling Survival Data in Medical Research</a:t>
            </a:r>
            <a:r>
              <a:rPr lang="en-IE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Taylor &amp; Francis.</a:t>
            </a:r>
          </a:p>
          <a:p>
            <a:r>
              <a:rPr lang="en-IE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Peace, K. E. (2009). </a:t>
            </a:r>
            <a:r>
              <a:rPr lang="en-IE" sz="10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Design and Analysis of Clinical Trials with Time-to-Event Endpoints</a:t>
            </a:r>
            <a:r>
              <a:rPr lang="en-IE" sz="1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. CRC Press.</a:t>
            </a:r>
          </a:p>
          <a:p>
            <a:r>
              <a:rPr lang="en-IE" sz="1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Newell, J., Kay, J. W., &amp; Aitchison, T. C. (2006). Survival ratio plots with permutation envelopes in survival data problems.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01662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B35CF-007A-9D9E-9D61-122AB70F2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14D7C-8FF0-5A85-C8D6-EED84F834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Clinicians face challenges including: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understanding standard survival visualizations on probability scales, </a:t>
            </a:r>
            <a:r>
              <a:rPr lang="en-US" i="1" dirty="0"/>
              <a:t>such as the KM and survival difference plot</a:t>
            </a:r>
            <a:r>
              <a:rPr lang="en-US" dirty="0"/>
              <a:t>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Translation of survival outcome to patients.</a:t>
            </a:r>
          </a:p>
          <a:p>
            <a:r>
              <a:rPr lang="en-US" dirty="0"/>
              <a:t>The Mean residual Life function is an alternative approach for translating survival outcomes to patients.</a:t>
            </a:r>
          </a:p>
          <a:p>
            <a:r>
              <a:rPr lang="en-US" dirty="0"/>
              <a:t>The </a:t>
            </a:r>
            <a:r>
              <a:rPr lang="en-US" b="1" dirty="0"/>
              <a:t>mean residual life function </a:t>
            </a:r>
            <a:r>
              <a:rPr lang="en-US" dirty="0"/>
              <a:t>provides a clear and simple summary of the effect of a treatment or a risk factor in units of time, avoiding hazard ratios or probability scales, which require careful interpretation. (Alvarez-Iglesias et al., 2015).</a:t>
            </a:r>
          </a:p>
          <a:p>
            <a:r>
              <a:rPr lang="en-US" dirty="0"/>
              <a:t>There was  no clinical perspective regarding survival versus MRL function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F53CD4-0619-58D1-300B-B56C884CF0D3}"/>
              </a:ext>
            </a:extLst>
          </p:cNvPr>
          <p:cNvSpPr txBox="1"/>
          <p:nvPr/>
        </p:nvSpPr>
        <p:spPr>
          <a:xfrm>
            <a:off x="1503680" y="5984240"/>
            <a:ext cx="10312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Alvarez-Iglesias, A., Newell, J., Scarrott, C., &amp; Hinde, J. (2015). Summarising censored survival data using the mean residual life function. </a:t>
            </a:r>
            <a:r>
              <a:rPr lang="en-IE" sz="11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Statistics in Medicine</a:t>
            </a:r>
            <a:r>
              <a:rPr lang="en-IE" sz="1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IE" sz="11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34</a:t>
            </a:r>
            <a:r>
              <a:rPr lang="en-IE" sz="1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(11), 1965–1976.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9166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27467-3608-B16E-C620-8BD925A4B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+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FCB8A-D8A6-6B31-EB72-477975D4B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Explore time-to-event visualization: survival versus MRL function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Kaplan-Meier Plot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Survival difference Plot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Mean Residual Life (MRL)plot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Mean Residual Life (MRL) difference plot </a:t>
            </a:r>
          </a:p>
          <a:p>
            <a:r>
              <a:rPr lang="en-US" dirty="0"/>
              <a:t>Assess knowledge and preference of medical doctors and students on time to event data visualization </a:t>
            </a:r>
            <a:r>
              <a:rPr lang="en-US" dirty="0">
                <a:sym typeface="Wingdings" panose="05000000000000000000" pitchFamily="2" charset="2"/>
              </a:rPr>
              <a:t>online survey 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b="1" dirty="0">
                <a:sym typeface="Wingdings" panose="05000000000000000000" pitchFamily="2" charset="2"/>
              </a:rPr>
              <a:t>Dataset</a:t>
            </a:r>
          </a:p>
          <a:p>
            <a:pPr lvl="1"/>
            <a:r>
              <a:rPr lang="en-US" dirty="0"/>
              <a:t>Open Access </a:t>
            </a:r>
          </a:p>
          <a:p>
            <a:pPr lvl="1"/>
            <a:r>
              <a:rPr lang="en-US" dirty="0"/>
              <a:t>NIH National Cancer Institute, TCGA Program on a project called “Breast invasive carcinoma (BRCA)”.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23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D993-2F02-FCFA-1069-8AD656413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SURVIVAL FUNCTION   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056297D5-BD46-6ACD-973A-8538D05C8B9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61734" y="1791517"/>
            <a:ext cx="4749552" cy="4571999"/>
          </a:xfrm>
        </p:spPr>
      </p:pic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03D6459-273E-030F-7AFC-B6843B339E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1800" b="0" i="1" u="none" strike="noStrike" baseline="0" dirty="0">
                <a:latin typeface="CMTI10"/>
              </a:rPr>
              <a:t>Greenwood’s formula</a:t>
            </a:r>
            <a:r>
              <a:rPr lang="en-US" sz="1800" b="0" i="0" u="none" strike="noStrike" baseline="0" dirty="0">
                <a:latin typeface="CMR10"/>
              </a:rPr>
              <a:t>. (to be added ) </a:t>
            </a:r>
          </a:p>
          <a:p>
            <a:r>
              <a:rPr lang="en-US" sz="1800" dirty="0">
                <a:latin typeface="CMR10"/>
              </a:rPr>
              <a:t>Survival difference </a:t>
            </a:r>
            <a:r>
              <a:rPr lang="en-US" sz="1800" dirty="0">
                <a:latin typeface="CMR10"/>
                <a:sym typeface="Wingdings" panose="05000000000000000000" pitchFamily="2" charset="2"/>
              </a:rPr>
              <a:t> standard error estimation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01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596EF-FBE7-46D7-5613-F8E09ADFD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KM AND SURVIVAL DIFFERENCE PLOTS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0CA613C-4C6E-157B-E19D-FE1CC537685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043113"/>
            <a:ext cx="4914900" cy="3686174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5D5EA94-C140-9EE7-D1C6-56264B4C09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43113"/>
            <a:ext cx="4914900" cy="3686174"/>
          </a:xfrm>
        </p:spPr>
      </p:pic>
    </p:spTree>
    <p:extLst>
      <p:ext uri="{BB962C8B-B14F-4D97-AF65-F5344CB8AC3E}">
        <p14:creationId xmlns:p14="http://schemas.microsoft.com/office/powerpoint/2010/main" val="2134349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6A398-9CF2-9854-AE73-C8C186B5E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Residual Life (MRL) Function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3D757F-EE0D-F371-46F2-086DB5E74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082202" y="3752507"/>
            <a:ext cx="5382730" cy="2467540"/>
          </a:xfrm>
        </p:spPr>
      </p:pic>
      <p:pic>
        <p:nvPicPr>
          <p:cNvPr id="4" name="Content Placeholder 9">
            <a:extLst>
              <a:ext uri="{FF2B5EF4-FFF2-40B4-BE49-F238E27FC236}">
                <a16:creationId xmlns:a16="http://schemas.microsoft.com/office/drawing/2014/main" id="{886DA16F-C685-7D6B-611C-3BB7BC8AB3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352" y="1676400"/>
            <a:ext cx="9799230" cy="20761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29CB38-5E5C-1B80-639B-ACE934C9DDFF}"/>
              </a:ext>
            </a:extLst>
          </p:cNvPr>
          <p:cNvSpPr txBox="1"/>
          <p:nvPr/>
        </p:nvSpPr>
        <p:spPr>
          <a:xfrm>
            <a:off x="1104900" y="6309360"/>
            <a:ext cx="10660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Alvarez-Iglesias, A., Newell, J., Scarrott, C., &amp; Hinde, J. (2015). Summarising censored survival data using the mean residual life function. </a:t>
            </a:r>
            <a:r>
              <a:rPr lang="en-IE" sz="11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Statistics in Medicine</a:t>
            </a:r>
            <a:r>
              <a:rPr lang="en-IE" sz="1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IE" sz="1100" i="1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34</a:t>
            </a:r>
            <a:r>
              <a:rPr lang="en-IE" sz="11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(11), 1965–1976. 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66441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223BD-62EC-83B9-F282-5FDCDB565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MRL &amp;MRL difference plot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3ED2B10-05B9-F719-EECE-B49A3EF21B5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083180"/>
            <a:ext cx="4914900" cy="3606040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96A8F44-1674-B063-93E2-2D30E5D51B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83180"/>
            <a:ext cx="4914900" cy="3606040"/>
          </a:xfrm>
        </p:spPr>
      </p:pic>
    </p:spTree>
    <p:extLst>
      <p:ext uri="{BB962C8B-B14F-4D97-AF65-F5344CB8AC3E}">
        <p14:creationId xmlns:p14="http://schemas.microsoft.com/office/powerpoint/2010/main" val="2419215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8E08C-9B74-253C-B935-C4A24EA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77D94-06F6-A21E-5BEA-9F40D4FFC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Survey: clinicians’ perspectives on survival data visualization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50D60-67D4-0213-F80C-6206966FEB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2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SURVEY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5A99C-4F44-ED07-8EA4-4F9FC6B3E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Target population: Medical Students &amp; Doctors </a:t>
            </a:r>
          </a:p>
          <a:p>
            <a:r>
              <a:rPr lang="en-US" dirty="0"/>
              <a:t>Data collection: anonymous online survey (Google form)</a:t>
            </a:r>
          </a:p>
          <a:p>
            <a:r>
              <a:rPr lang="en-US" dirty="0"/>
              <a:t>Convenience sampling (Voluntary, no randomization) </a:t>
            </a:r>
          </a:p>
          <a:p>
            <a:r>
              <a:rPr lang="en-US" dirty="0"/>
              <a:t>No ethical approval required </a:t>
            </a:r>
          </a:p>
          <a:p>
            <a:r>
              <a:rPr lang="en-US" dirty="0"/>
              <a:t>Data collection Period:  15</a:t>
            </a:r>
            <a:r>
              <a:rPr lang="en-US" baseline="30000" dirty="0"/>
              <a:t>th</a:t>
            </a:r>
            <a:r>
              <a:rPr lang="en-US" dirty="0"/>
              <a:t> April - 20</a:t>
            </a:r>
            <a:r>
              <a:rPr lang="en-US" baseline="30000" dirty="0"/>
              <a:t>th</a:t>
            </a:r>
            <a:r>
              <a:rPr lang="en-US" dirty="0"/>
              <a:t> May 2025 (5 weeks)</a:t>
            </a:r>
          </a:p>
          <a:p>
            <a:r>
              <a:rPr lang="en-US" dirty="0"/>
              <a:t>Outcome :</a:t>
            </a:r>
          </a:p>
          <a:p>
            <a:pPr lvl="1"/>
            <a:r>
              <a:rPr lang="en-US" dirty="0"/>
              <a:t>Proportion of correct interpretation before and after the provision of the correct interpretations</a:t>
            </a:r>
          </a:p>
          <a:p>
            <a:pPr lvl="1"/>
            <a:r>
              <a:rPr lang="en-US" dirty="0"/>
              <a:t>preferences across KM, survival difference, MRL, and MRL difference plot for clinicians’ understanding and patients’ communication.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BF2EC-FC28-ABBF-D0E3-AAE8A3B5A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QUESTIONNAIRE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768D9-5E46-518D-44CC-DAA7A2464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Demographic information (Country and Qualification)</a:t>
            </a:r>
          </a:p>
          <a:p>
            <a:r>
              <a:rPr lang="en-US" dirty="0"/>
              <a:t>Self-rated knowledge on survival analysis (1 to 10 scale)</a:t>
            </a:r>
          </a:p>
          <a:p>
            <a:r>
              <a:rPr lang="en-US" dirty="0"/>
              <a:t>Four plots for interpretation (Pre-assessment)</a:t>
            </a:r>
          </a:p>
          <a:p>
            <a:r>
              <a:rPr lang="en-US" dirty="0"/>
              <a:t>Provision of correct interpretations for the pre-assessment </a:t>
            </a:r>
            <a:r>
              <a:rPr lang="en-US" b="1" dirty="0"/>
              <a:t>(learning section)</a:t>
            </a:r>
          </a:p>
          <a:p>
            <a:r>
              <a:rPr lang="en-US" dirty="0"/>
              <a:t>New plots for interpretation(Post- assessment)</a:t>
            </a:r>
          </a:p>
          <a:p>
            <a:r>
              <a:rPr lang="en-US" dirty="0"/>
              <a:t>Ranking 1: plot easy to understand by clinician (easy to hard)</a:t>
            </a:r>
          </a:p>
          <a:p>
            <a:r>
              <a:rPr lang="en-US" dirty="0"/>
              <a:t>Ranking 2: plot that clinician prefer to use in consultation with the patient(easy to hard)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533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Demography &amp; Result 1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38 responses received </a:t>
            </a:r>
          </a:p>
          <a:p>
            <a:r>
              <a:rPr lang="en-US" dirty="0"/>
              <a:t>In total, 32 responses were analyzed</a:t>
            </a:r>
          </a:p>
          <a:p>
            <a:r>
              <a:rPr lang="en-US" dirty="0"/>
              <a:t>75% of respondents rate themselves 5 and below.</a:t>
            </a:r>
          </a:p>
          <a:p>
            <a:r>
              <a:rPr lang="en-US" dirty="0"/>
              <a:t>Data analysis (NVivo and R)</a:t>
            </a: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1DF83C1-8E79-C8E9-8887-8861C82C11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070" y="1443727"/>
            <a:ext cx="4408861" cy="4512680"/>
          </a:xfrm>
        </p:spPr>
      </p:pic>
    </p:spTree>
    <p:extLst>
      <p:ext uri="{BB962C8B-B14F-4D97-AF65-F5344CB8AC3E}">
        <p14:creationId xmlns:p14="http://schemas.microsoft.com/office/powerpoint/2010/main" val="285378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F7081-82F7-5BED-2345-30C56A1F5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23AB8-DF2D-B5C1-F0F7-5BCA56963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those who say they know actually know?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D70BD87-0915-E67B-BD32-6BFEEA5EEAF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12" y="2147978"/>
            <a:ext cx="5354488" cy="3212692"/>
          </a:xfr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B9C81519-4C36-126E-5135-46C4C79B941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2147978"/>
            <a:ext cx="5354487" cy="3212691"/>
          </a:xfrm>
        </p:spPr>
      </p:pic>
    </p:spTree>
    <p:extLst>
      <p:ext uri="{BB962C8B-B14F-4D97-AF65-F5344CB8AC3E}">
        <p14:creationId xmlns:p14="http://schemas.microsoft.com/office/powerpoint/2010/main" val="2590103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Gain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E80A1C6-1215-746F-1DDE-DE685BDFFB5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411730"/>
            <a:ext cx="4914900" cy="2948939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EC3D6F3-E795-63A5-50B5-817BAB1B8DE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11730"/>
            <a:ext cx="4914900" cy="2948939"/>
          </a:xfrm>
        </p:spPr>
      </p:pic>
    </p:spTree>
    <p:extLst>
      <p:ext uri="{BB962C8B-B14F-4D97-AF65-F5344CB8AC3E}">
        <p14:creationId xmlns:p14="http://schemas.microsoft.com/office/powerpoint/2010/main" val="319702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55E503-5484-AE44-B41C-5F76A1CF8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Gain -  Regression Tree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1A3D44D-3151-10E7-972B-DC5B113EBC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39112" y="1515450"/>
            <a:ext cx="7603112" cy="4665894"/>
          </a:xfrm>
        </p:spPr>
      </p:pic>
    </p:spTree>
    <p:extLst>
      <p:ext uri="{BB962C8B-B14F-4D97-AF65-F5344CB8AC3E}">
        <p14:creationId xmlns:p14="http://schemas.microsoft.com/office/powerpoint/2010/main" val="418850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705DC-88CD-274A-50BE-BB0CFC932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of Post MRL correctness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A0C68E-F2E9-6790-FDF5-CA7C6DB197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67128" y="1719072"/>
            <a:ext cx="8010144" cy="4556714"/>
          </a:xfrm>
        </p:spPr>
      </p:pic>
    </p:spTree>
    <p:extLst>
      <p:ext uri="{BB962C8B-B14F-4D97-AF65-F5344CB8AC3E}">
        <p14:creationId xmlns:p14="http://schemas.microsoft.com/office/powerpoint/2010/main" val="1975790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29E101-983D-45B3-53E0-67E78026D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distribution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83B768B-4BB0-2457-A9E6-24813A0AD5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11730"/>
            <a:ext cx="4914900" cy="2948939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9AD24B-5F91-4561-0512-96FB083851CA}"/>
              </a:ext>
            </a:extLst>
          </p:cNvPr>
          <p:cNvSpPr txBox="1"/>
          <p:nvPr/>
        </p:nvSpPr>
        <p:spPr>
          <a:xfrm>
            <a:off x="2692400" y="2011680"/>
            <a:ext cx="701040" cy="1859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14D2116-160A-CD15-EEDA-E516B658AD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Kaplan-Meier is the most preferred plot, followed by: </a:t>
            </a:r>
            <a:r>
              <a:rPr lang="en-US" i="1" dirty="0"/>
              <a:t>Survival difference, MRL plot, and MRL difference plot, respectively.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82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1CE40-5F80-BDBB-C29B-468FFBB2C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changes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FFB312D-D818-4F44-501F-2398245C6D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/>
              <a:t>The ranking change was the highest for the MRL plot.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7694E96-43D4-F355-8685-2EB270761D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411730"/>
            <a:ext cx="4914900" cy="2948939"/>
          </a:xfrm>
        </p:spPr>
      </p:pic>
    </p:spTree>
    <p:extLst>
      <p:ext uri="{BB962C8B-B14F-4D97-AF65-F5344CB8AC3E}">
        <p14:creationId xmlns:p14="http://schemas.microsoft.com/office/powerpoint/2010/main" val="225420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A9B49-1EE8-B31B-03A0-814A7F2C2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STRENGTH &amp; LIMITATIONS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3CC00-A9CC-E230-36A7-20412AC4D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Strength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Novel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mixed-method research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Primary insight from individual clinicians </a:t>
            </a:r>
          </a:p>
          <a:p>
            <a:r>
              <a:rPr lang="en-US" dirty="0"/>
              <a:t>Limitation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Convenience study &amp; uncontrolled setting ( risk of bias 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Short data collection period </a:t>
            </a:r>
          </a:p>
        </p:txBody>
      </p:sp>
    </p:spTree>
    <p:extLst>
      <p:ext uri="{BB962C8B-B14F-4D97-AF65-F5344CB8AC3E}">
        <p14:creationId xmlns:p14="http://schemas.microsoft.com/office/powerpoint/2010/main" val="1288343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BC01E-7895-5E95-05CD-672EA3E8D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CC483-2AED-6D67-57AE-2FA9C394F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limited knowledge in survival plot interpretation among medical doctors and students.</a:t>
            </a:r>
          </a:p>
          <a:p>
            <a:r>
              <a:rPr lang="en-US" dirty="0"/>
              <a:t>The respondents are familiar with Kaplan Meier compared to other presented graphs.</a:t>
            </a:r>
          </a:p>
          <a:p>
            <a:r>
              <a:rPr lang="en-US" dirty="0"/>
              <a:t>MRL function is a new concept for clinicians </a:t>
            </a:r>
          </a:p>
          <a:p>
            <a:r>
              <a:rPr lang="en-US" dirty="0"/>
              <a:t>MRL plot has the highest improvement in accuracy of interpretations -</a:t>
            </a:r>
            <a:r>
              <a:rPr lang="en-US" dirty="0">
                <a:sym typeface="Wingdings" panose="05000000000000000000" pitchFamily="2" charset="2"/>
              </a:rPr>
              <a:t> thus, it’s </a:t>
            </a:r>
            <a:r>
              <a:rPr lang="en-US" b="1" dirty="0">
                <a:sym typeface="Wingdings" panose="05000000000000000000" pitchFamily="2" charset="2"/>
              </a:rPr>
              <a:t>easy to learn and apply.</a:t>
            </a:r>
          </a:p>
          <a:p>
            <a:endParaRPr lang="en-US" b="1" dirty="0">
              <a:sym typeface="Wingdings" panose="05000000000000000000" pitchFamily="2" charset="2"/>
            </a:endParaRPr>
          </a:p>
          <a:p>
            <a:r>
              <a:rPr lang="en-US" b="1" dirty="0">
                <a:sym typeface="Wingdings" panose="05000000000000000000" pitchFamily="2" charset="2"/>
              </a:rPr>
              <a:t>WAY FORWARD: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>
                <a:sym typeface="Wingdings" panose="05000000000000000000" pitchFamily="2" charset="2"/>
              </a:rPr>
              <a:t>Collect more insight from clinicians (extend timeline)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1638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1B476-C297-8CD5-383C-89ECB26E1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0B2323C-9877-7B77-6FF2-8C063EEF20A7}"/>
              </a:ext>
            </a:extLst>
          </p:cNvPr>
          <p:cNvSpPr txBox="1"/>
          <p:nvPr/>
        </p:nvSpPr>
        <p:spPr>
          <a:xfrm>
            <a:off x="81280" y="193040"/>
            <a:ext cx="11927840" cy="7076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REFERENCES 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>
              <a:spcAft>
                <a:spcPts val="800"/>
              </a:spcAft>
              <a:buNone/>
            </a:pPr>
            <a:r>
              <a:rPr lang="en-I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Alvarez-Iglesias, A., Newell, J., Scarrott, C., &amp; Hinde, J. (2015). Summarising censored survival data using the mean residual life function. </a:t>
            </a:r>
            <a:r>
              <a:rPr lang="en-IE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Statistics in Medicine</a:t>
            </a:r>
            <a:r>
              <a:rPr lang="en-I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E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34</a:t>
            </a:r>
            <a:r>
              <a:rPr lang="en-I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(11), 1965–1976. </a:t>
            </a:r>
          </a:p>
          <a:p>
            <a:pPr lvl="1">
              <a:spcAft>
                <a:spcPts val="800"/>
              </a:spcAft>
            </a:pPr>
            <a:r>
              <a:rPr lang="en-IE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https://doi.org/10.1002/sim.6431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indent="-457200">
              <a:spcAft>
                <a:spcPts val="800"/>
              </a:spcAft>
            </a:pPr>
            <a:r>
              <a:rPr lang="en-IE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Collett, D. (2023). </a:t>
            </a:r>
            <a:r>
              <a:rPr lang="en-IE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Modelling Survival Data in Medical Research</a:t>
            </a:r>
            <a:r>
              <a:rPr lang="en-IE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Taylor &amp; Francis. https://books.google.ie/books?id=rIp0zwEACAAJ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6088" indent="-446088">
              <a:lnSpc>
                <a:spcPct val="107000"/>
              </a:lnSpc>
              <a:spcAft>
                <a:spcPts val="800"/>
              </a:spcAft>
            </a:pPr>
            <a:r>
              <a:rPr lang="en-I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Peace, K. E. (2009). </a:t>
            </a:r>
            <a:r>
              <a:rPr lang="en-IE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 and Analysis of Clinical Trials with Time-to-Event Endpoints</a:t>
            </a:r>
            <a:r>
              <a:rPr lang="en-I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CRC Press. </a:t>
            </a:r>
            <a:r>
              <a:rPr lang="en-I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https://books.google.ie/books?id=3f_LBQAAQBAJ</a:t>
            </a:r>
            <a:endParaRPr lang="en-IE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46088" indent="-446088">
              <a:lnSpc>
                <a:spcPct val="107000"/>
              </a:lnSpc>
              <a:spcAft>
                <a:spcPts val="800"/>
              </a:spcAft>
            </a:pPr>
            <a:r>
              <a:rPr lang="en-IE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Portal.gdc.cancer.gov/projects/TCGA-BRCA</a:t>
            </a:r>
            <a:r>
              <a:rPr lang="en-IE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(n.d.). Retrieved May 26, 2025, </a:t>
            </a:r>
          </a:p>
          <a:p>
            <a:pPr marL="1000125" lvl="1" indent="-542925">
              <a:lnSpc>
                <a:spcPct val="107000"/>
              </a:lnSpc>
              <a:spcAft>
                <a:spcPts val="800"/>
              </a:spcAft>
            </a:pPr>
            <a:r>
              <a:rPr lang="en-IE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E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https://portal.gdc.cancer.gov/projects/TCGA-BRCA</a:t>
            </a:r>
            <a:endParaRPr lang="en-IE" kern="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42925" indent="-542925">
              <a:lnSpc>
                <a:spcPct val="107000"/>
              </a:lnSpc>
              <a:spcAft>
                <a:spcPts val="800"/>
              </a:spcAft>
            </a:pPr>
            <a:r>
              <a:rPr lang="en-IE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Newell, J., Kay, J. W., &amp; Aitchison, T. C. (2006). Survival ratio plots with permutation envelopes in survival data problems. </a:t>
            </a:r>
            <a:r>
              <a:rPr lang="en-IE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Computers in Biology and Medicine</a:t>
            </a:r>
            <a:r>
              <a:rPr lang="en-IE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E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36</a:t>
            </a:r>
            <a:r>
              <a:rPr lang="en-IE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(5), 526–541. </a:t>
            </a:r>
          </a:p>
          <a:p>
            <a:pPr marL="1000125" lvl="1" indent="-542925">
              <a:lnSpc>
                <a:spcPct val="107000"/>
              </a:lnSpc>
              <a:spcAft>
                <a:spcPts val="800"/>
              </a:spcAft>
            </a:pPr>
            <a:r>
              <a:rPr lang="en-IE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https://doi.org/10.1016/j.compbiomed.2005.03.005</a:t>
            </a:r>
            <a:endParaRPr lang="en-IE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42925" indent="-542925">
              <a:lnSpc>
                <a:spcPct val="107000"/>
              </a:lnSpc>
              <a:spcAft>
                <a:spcPts val="800"/>
              </a:spcAft>
            </a:pP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00125" lvl="1" indent="-542925">
              <a:lnSpc>
                <a:spcPct val="107000"/>
              </a:lnSpc>
              <a:spcAft>
                <a:spcPts val="800"/>
              </a:spcAft>
            </a:pPr>
            <a:endParaRPr lang="en-IE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42925" indent="-542925">
              <a:lnSpc>
                <a:spcPct val="107000"/>
              </a:lnSpc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6088" indent="-446088">
              <a:lnSpc>
                <a:spcPct val="107000"/>
              </a:lnSpc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78239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5ED62F-4265-2516-21CC-45BAAC8C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71238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52D6B-D0F5-C9A7-C600-60C305D53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74617-1DF4-DF12-C21A-4F133E857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ANNEX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6D4F6-2BEF-F130-AF9B-7EA6E82F9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slides will be used during Q&amp;A</a:t>
            </a:r>
          </a:p>
        </p:txBody>
      </p:sp>
    </p:spTree>
    <p:extLst>
      <p:ext uri="{BB962C8B-B14F-4D97-AF65-F5344CB8AC3E}">
        <p14:creationId xmlns:p14="http://schemas.microsoft.com/office/powerpoint/2010/main" val="177254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BEF75A0-A210-C035-377A-8E89234A8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POST: Survival function plots 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7ABF6CF-94AB-3014-1DCB-D42183A128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043113"/>
            <a:ext cx="4914900" cy="3686174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0122274-FE4C-2DE9-1BB7-77A06AD1409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43113"/>
            <a:ext cx="4914900" cy="3686174"/>
          </a:xfrm>
        </p:spPr>
      </p:pic>
    </p:spTree>
    <p:extLst>
      <p:ext uri="{BB962C8B-B14F-4D97-AF65-F5344CB8AC3E}">
        <p14:creationId xmlns:p14="http://schemas.microsoft.com/office/powerpoint/2010/main" val="1775340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59138-F699-429D-FE22-ACEE54A3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POST= MRL PLOTS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EFC4D5A-91A4-5063-19B4-684BCCBA416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083180"/>
            <a:ext cx="4914900" cy="360604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061F0F7-6F78-7DFC-23DC-773B994592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83180"/>
            <a:ext cx="4914900" cy="3606040"/>
          </a:xfrm>
        </p:spPr>
      </p:pic>
    </p:spTree>
    <p:extLst>
      <p:ext uri="{BB962C8B-B14F-4D97-AF65-F5344CB8AC3E}">
        <p14:creationId xmlns:p14="http://schemas.microsoft.com/office/powerpoint/2010/main" val="3823840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DDBB83-77C1-4099-A0AA-289882E745E2}">
  <ds:schemaRefs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 presentation, pinstripe and ribbon design (widescreen)</Template>
  <TotalTime>1307</TotalTime>
  <Words>1292</Words>
  <Application>Microsoft Office PowerPoint</Application>
  <PresentationFormat>Widescreen</PresentationFormat>
  <Paragraphs>144</Paragraphs>
  <Slides>26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Calibri</vt:lpstr>
      <vt:lpstr>CMR10</vt:lpstr>
      <vt:lpstr>CMTI10</vt:lpstr>
      <vt:lpstr>Courier New</vt:lpstr>
      <vt:lpstr>Euphemia</vt:lpstr>
      <vt:lpstr>Euphemia(body)</vt:lpstr>
      <vt:lpstr>Plantagenet Cherokee</vt:lpstr>
      <vt:lpstr>Wingdings</vt:lpstr>
      <vt:lpstr>Academic Literature 16x9</vt:lpstr>
      <vt:lpstr>Novel approaches for  visualizing time to event data</vt:lpstr>
      <vt:lpstr>PRESENTATION OUTLINE</vt:lpstr>
      <vt:lpstr>BACKGROUND</vt:lpstr>
      <vt:lpstr>Problem statement</vt:lpstr>
      <vt:lpstr>OBJECTIVE + DATASET</vt:lpstr>
      <vt:lpstr>SURVIVAL FUNCTION   </vt:lpstr>
      <vt:lpstr>KM AND SURVIVAL DIFFERENCE PLOTS </vt:lpstr>
      <vt:lpstr>Mean Residual Life (MRL) Function</vt:lpstr>
      <vt:lpstr>MRL &amp;MRL difference plot </vt:lpstr>
      <vt:lpstr>Survey: clinicians’ perspectives on survival data visualization </vt:lpstr>
      <vt:lpstr>SURVEY DESCRIPTION</vt:lpstr>
      <vt:lpstr>QUESTIONNAIRE STRUCTURE</vt:lpstr>
      <vt:lpstr>Demography &amp; Result 1 </vt:lpstr>
      <vt:lpstr>Do those who say they know actually know?</vt:lpstr>
      <vt:lpstr>Knowledge Gain </vt:lpstr>
      <vt:lpstr>Knowledge Gain -  Regression Tree </vt:lpstr>
      <vt:lpstr>Prediction of Post MRL correctness </vt:lpstr>
      <vt:lpstr>Ranking distribution </vt:lpstr>
      <vt:lpstr>Ranking changes </vt:lpstr>
      <vt:lpstr>STRENGTH &amp; LIMITATIONS </vt:lpstr>
      <vt:lpstr>CONCLUSION </vt:lpstr>
      <vt:lpstr>PowerPoint Presentation</vt:lpstr>
      <vt:lpstr>THANK YOU!</vt:lpstr>
      <vt:lpstr>ANNEX</vt:lpstr>
      <vt:lpstr>POST: Survival function plots </vt:lpstr>
      <vt:lpstr>POST= MRL PLOTS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Pacifique Rwandarwacu</dc:creator>
  <cp:lastModifiedBy>Victor Pacifique Rwandarwacu</cp:lastModifiedBy>
  <cp:revision>18</cp:revision>
  <dcterms:created xsi:type="dcterms:W3CDTF">2025-05-23T20:21:26Z</dcterms:created>
  <dcterms:modified xsi:type="dcterms:W3CDTF">2025-05-26T02:50:29Z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