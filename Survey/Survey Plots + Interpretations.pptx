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82603" autoAdjust="0"/>
  </p:normalViewPr>
  <p:slideViewPr>
    <p:cSldViewPr snapToGrid="0">
      <p:cViewPr varScale="1">
        <p:scale>
          <a:sx n="61" d="100"/>
          <a:sy n="61" d="100"/>
        </p:scale>
        <p:origin x="884"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B13EDCC-944B-48D4-9516-7245485556AE}" type="datetimeFigureOut">
              <a:rPr lang="en-US" smtClean="0"/>
              <a:t>5/21/2025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2169073-66FE-4381-B110-A74C87859CA5}" type="slidenum">
              <a:rPr lang="en-US" smtClean="0"/>
              <a:t>‹#›</a:t>
            </a:fld>
            <a:endParaRPr lang="en-US"/>
          </a:p>
        </p:txBody>
      </p:sp>
    </p:spTree>
    <p:extLst>
      <p:ext uri="{BB962C8B-B14F-4D97-AF65-F5344CB8AC3E}">
        <p14:creationId xmlns:p14="http://schemas.microsoft.com/office/powerpoint/2010/main" val="18271731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None/>
            </a:pPr>
            <a:r>
              <a:rPr lang="en-US" b="0" i="0" dirty="0">
                <a:solidFill>
                  <a:srgbClr val="202124"/>
                </a:solidFill>
                <a:effectLst/>
                <a:latin typeface="Roboto" panose="02000000000000000000" pitchFamily="2" charset="0"/>
              </a:rPr>
              <a:t>This KM curve compares survival between two patients' groups (Group A and Group B ) over time.</a:t>
            </a:r>
          </a:p>
          <a:p>
            <a:pPr algn="l">
              <a:buNone/>
            </a:pPr>
            <a:endParaRPr lang="en-US" b="0" i="0" dirty="0">
              <a:solidFill>
                <a:srgbClr val="202124"/>
              </a:solidFill>
              <a:effectLst/>
              <a:latin typeface="Roboto" panose="02000000000000000000" pitchFamily="2" charset="0"/>
            </a:endParaRPr>
          </a:p>
          <a:p>
            <a:pPr algn="l">
              <a:buNone/>
            </a:pPr>
            <a:r>
              <a:rPr lang="en-US" b="0" i="0" dirty="0">
                <a:solidFill>
                  <a:srgbClr val="202124"/>
                </a:solidFill>
                <a:effectLst/>
                <a:latin typeface="Roboto" panose="02000000000000000000" pitchFamily="2" charset="0"/>
              </a:rPr>
              <a:t>From the start, Patients in Group A had better survival compared to Group B suggesting a better long-term outcome. For example,  5 years post-diagnosis 73% of Group B patients were still alive compared to approximately 84%  of Group A patients.</a:t>
            </a:r>
          </a:p>
          <a:p>
            <a:pPr algn="l"/>
            <a:r>
              <a:rPr lang="en-US" b="0" i="0" dirty="0">
                <a:solidFill>
                  <a:srgbClr val="202124"/>
                </a:solidFill>
                <a:effectLst/>
                <a:latin typeface="Roboto" panose="02000000000000000000" pitchFamily="2" charset="0"/>
              </a:rPr>
              <a:t>Clinically, this suggests a survival advantage for Group A over Group B. </a:t>
            </a:r>
          </a:p>
          <a:p>
            <a:endParaRPr lang="en-US" dirty="0"/>
          </a:p>
        </p:txBody>
      </p:sp>
      <p:sp>
        <p:nvSpPr>
          <p:cNvPr id="4" name="Slide Number Placeholder 3"/>
          <p:cNvSpPr>
            <a:spLocks noGrp="1"/>
          </p:cNvSpPr>
          <p:nvPr>
            <p:ph type="sldNum" sz="quarter" idx="5"/>
          </p:nvPr>
        </p:nvSpPr>
        <p:spPr/>
        <p:txBody>
          <a:bodyPr/>
          <a:lstStyle/>
          <a:p>
            <a:fld id="{E2169073-66FE-4381-B110-A74C87859CA5}" type="slidenum">
              <a:rPr lang="en-US" smtClean="0"/>
              <a:t>2</a:t>
            </a:fld>
            <a:endParaRPr lang="en-US"/>
          </a:p>
        </p:txBody>
      </p:sp>
    </p:spTree>
    <p:extLst>
      <p:ext uri="{BB962C8B-B14F-4D97-AF65-F5344CB8AC3E}">
        <p14:creationId xmlns:p14="http://schemas.microsoft.com/office/powerpoint/2010/main" val="11288202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None/>
            </a:pPr>
            <a:r>
              <a:rPr lang="en-US" b="0" i="0" dirty="0">
                <a:solidFill>
                  <a:srgbClr val="202124"/>
                </a:solidFill>
                <a:effectLst/>
                <a:latin typeface="Roboto" panose="02000000000000000000" pitchFamily="2" charset="0"/>
              </a:rPr>
              <a:t>This plot shows the difference in survival between Group A and Group B (Group A - Group B) over time, displayed as a green line, which highlights the improved survival prospects for Group A.</a:t>
            </a:r>
          </a:p>
          <a:p>
            <a:pPr algn="l">
              <a:buNone/>
            </a:pPr>
            <a:r>
              <a:rPr lang="en-US" b="0" i="0" dirty="0">
                <a:solidFill>
                  <a:srgbClr val="202124"/>
                </a:solidFill>
                <a:effectLst/>
                <a:latin typeface="Roboto" panose="02000000000000000000" pitchFamily="2" charset="0"/>
              </a:rPr>
              <a:t> </a:t>
            </a:r>
          </a:p>
          <a:p>
            <a:pPr algn="l">
              <a:buNone/>
            </a:pPr>
            <a:r>
              <a:rPr lang="en-US" b="0" i="0" dirty="0">
                <a:solidFill>
                  <a:srgbClr val="202124"/>
                </a:solidFill>
                <a:effectLst/>
                <a:latin typeface="Roboto" panose="02000000000000000000" pitchFamily="2" charset="0"/>
              </a:rPr>
              <a:t>In the first 7 years post diagnosis, Group A has better survival (as seen by the green line and band staying above zero), but this advantage declines later. </a:t>
            </a:r>
          </a:p>
          <a:p>
            <a:pPr algn="l">
              <a:buNone/>
            </a:pPr>
            <a:br>
              <a:rPr lang="en-US" b="0" i="0" dirty="0">
                <a:solidFill>
                  <a:srgbClr val="202124"/>
                </a:solidFill>
                <a:effectLst/>
                <a:latin typeface="Roboto" panose="02000000000000000000" pitchFamily="2" charset="0"/>
              </a:rPr>
            </a:br>
            <a:r>
              <a:rPr lang="en-US" b="0" i="0" dirty="0">
                <a:solidFill>
                  <a:srgbClr val="202124"/>
                </a:solidFill>
                <a:effectLst/>
                <a:latin typeface="Roboto" panose="02000000000000000000" pitchFamily="2" charset="0"/>
              </a:rPr>
              <a:t>The shaded area (in blue) represents the 95% Confidence Interval (CI) for the difference in survival.  If the CI does not contain zero there is evidence that the difference in survival is likely to be real and not due to chance.  In this example there is evidence of improved survival for Group A from 0 to 7 years approximately as the 95% CI is strictly positive across this range.</a:t>
            </a:r>
          </a:p>
          <a:p>
            <a:pPr algn="l">
              <a:buNone/>
            </a:pPr>
            <a:br>
              <a:rPr lang="en-US" b="0" i="0" dirty="0">
                <a:solidFill>
                  <a:srgbClr val="202124"/>
                </a:solidFill>
                <a:effectLst/>
                <a:latin typeface="Roboto" panose="02000000000000000000" pitchFamily="2" charset="0"/>
              </a:rPr>
            </a:br>
            <a:endParaRPr lang="en-US" b="0" i="0" dirty="0">
              <a:solidFill>
                <a:srgbClr val="202124"/>
              </a:solidFill>
              <a:effectLst/>
              <a:latin typeface="Roboto" panose="02000000000000000000" pitchFamily="2" charset="0"/>
            </a:endParaRPr>
          </a:p>
          <a:p>
            <a:pPr algn="l"/>
            <a:r>
              <a:rPr lang="en-US" b="0" i="0" dirty="0">
                <a:solidFill>
                  <a:srgbClr val="202124"/>
                </a:solidFill>
                <a:effectLst/>
                <a:latin typeface="Roboto" panose="02000000000000000000" pitchFamily="2" charset="0"/>
              </a:rPr>
              <a:t>Clinically, this suggests that while Group A initially had a more favorable prognosis  compared to Group B, the long-term benefit may not be sustained. </a:t>
            </a:r>
          </a:p>
          <a:p>
            <a:endParaRPr lang="en-US" dirty="0"/>
          </a:p>
        </p:txBody>
      </p:sp>
      <p:sp>
        <p:nvSpPr>
          <p:cNvPr id="4" name="Slide Number Placeholder 3"/>
          <p:cNvSpPr>
            <a:spLocks noGrp="1"/>
          </p:cNvSpPr>
          <p:nvPr>
            <p:ph type="sldNum" sz="quarter" idx="5"/>
          </p:nvPr>
        </p:nvSpPr>
        <p:spPr/>
        <p:txBody>
          <a:bodyPr/>
          <a:lstStyle/>
          <a:p>
            <a:fld id="{E2169073-66FE-4381-B110-A74C87859CA5}" type="slidenum">
              <a:rPr lang="en-US" smtClean="0"/>
              <a:t>3</a:t>
            </a:fld>
            <a:endParaRPr lang="en-US"/>
          </a:p>
        </p:txBody>
      </p:sp>
    </p:spTree>
    <p:extLst>
      <p:ext uri="{BB962C8B-B14F-4D97-AF65-F5344CB8AC3E}">
        <p14:creationId xmlns:p14="http://schemas.microsoft.com/office/powerpoint/2010/main" val="38592372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None/>
            </a:pPr>
            <a:r>
              <a:rPr lang="en-US" b="0" i="0" dirty="0">
                <a:solidFill>
                  <a:srgbClr val="202124"/>
                </a:solidFill>
                <a:effectLst/>
                <a:latin typeface="Roboto" panose="02000000000000000000" pitchFamily="2" charset="0"/>
              </a:rPr>
              <a:t>The MRL plot displays the estimated average remaining lifetime for patients who have already survived up to a specific time e.g. on average how much time have I left given I have survived 2 years?</a:t>
            </a:r>
          </a:p>
          <a:p>
            <a:pPr algn="l">
              <a:buNone/>
            </a:pPr>
            <a:r>
              <a:rPr lang="en-US" b="0" i="0" dirty="0">
                <a:solidFill>
                  <a:srgbClr val="202124"/>
                </a:solidFill>
                <a:effectLst/>
                <a:latin typeface="Roboto" panose="02000000000000000000" pitchFamily="2" charset="0"/>
              </a:rPr>
              <a:t>For example, given that patient is still alive 10 years post diagnosis , the expected remaining life for Group B is about 36 years, compared to only about 19 years for Group A. </a:t>
            </a:r>
          </a:p>
          <a:p>
            <a:pPr algn="l"/>
            <a:r>
              <a:rPr lang="en-US" b="0" i="0" dirty="0">
                <a:solidFill>
                  <a:srgbClr val="202124"/>
                </a:solidFill>
                <a:effectLst/>
                <a:latin typeface="Roboto" panose="02000000000000000000" pitchFamily="2" charset="0"/>
              </a:rPr>
              <a:t>Clinically, this graph highlights that patients in Group B have a higher mean residual life compared to Group A.</a:t>
            </a:r>
          </a:p>
          <a:p>
            <a:endParaRPr lang="en-US" dirty="0"/>
          </a:p>
        </p:txBody>
      </p:sp>
      <p:sp>
        <p:nvSpPr>
          <p:cNvPr id="4" name="Slide Number Placeholder 3"/>
          <p:cNvSpPr>
            <a:spLocks noGrp="1"/>
          </p:cNvSpPr>
          <p:nvPr>
            <p:ph type="sldNum" sz="quarter" idx="5"/>
          </p:nvPr>
        </p:nvSpPr>
        <p:spPr/>
        <p:txBody>
          <a:bodyPr/>
          <a:lstStyle/>
          <a:p>
            <a:fld id="{E2169073-66FE-4381-B110-A74C87859CA5}" type="slidenum">
              <a:rPr lang="en-US" smtClean="0"/>
              <a:t>4</a:t>
            </a:fld>
            <a:endParaRPr lang="en-US"/>
          </a:p>
        </p:txBody>
      </p:sp>
    </p:spTree>
    <p:extLst>
      <p:ext uri="{BB962C8B-B14F-4D97-AF65-F5344CB8AC3E}">
        <p14:creationId xmlns:p14="http://schemas.microsoft.com/office/powerpoint/2010/main" val="22062861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dirty="0"/>
              <a:t>The MRL difference plot quantifies how much longer patients in Group B are expected to live compared to those in group A given than both have survived up to a certain time point  post diagnosis. </a:t>
            </a:r>
          </a:p>
          <a:p>
            <a:pPr>
              <a:buNone/>
            </a:pPr>
            <a:r>
              <a:rPr lang="en-US" dirty="0"/>
              <a:t>Group B consistently has a better prognosis, with the difference peaking around year 10 at nearly 17 years. This means 10 years post diagnosis, individuals in Group B can expect to live, on average, 17 years longer than those in Group A  . However ,  the groups become more similar in their remaining life expectancy in later years.</a:t>
            </a:r>
          </a:p>
          <a:p>
            <a:pPr>
              <a:buNone/>
            </a:pPr>
            <a:br>
              <a:rPr lang="en-US" dirty="0"/>
            </a:br>
            <a:endParaRPr lang="en-US" dirty="0"/>
          </a:p>
        </p:txBody>
      </p:sp>
      <p:sp>
        <p:nvSpPr>
          <p:cNvPr id="4" name="Slide Number Placeholder 3"/>
          <p:cNvSpPr>
            <a:spLocks noGrp="1"/>
          </p:cNvSpPr>
          <p:nvPr>
            <p:ph type="sldNum" sz="quarter" idx="5"/>
          </p:nvPr>
        </p:nvSpPr>
        <p:spPr/>
        <p:txBody>
          <a:bodyPr/>
          <a:lstStyle/>
          <a:p>
            <a:fld id="{E2169073-66FE-4381-B110-A74C87859CA5}" type="slidenum">
              <a:rPr lang="en-US" smtClean="0"/>
              <a:t>5</a:t>
            </a:fld>
            <a:endParaRPr lang="en-US"/>
          </a:p>
        </p:txBody>
      </p:sp>
    </p:spTree>
    <p:extLst>
      <p:ext uri="{BB962C8B-B14F-4D97-AF65-F5344CB8AC3E}">
        <p14:creationId xmlns:p14="http://schemas.microsoft.com/office/powerpoint/2010/main" val="22966559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None/>
            </a:pPr>
            <a:r>
              <a:rPr lang="en-US" b="0" i="0" dirty="0">
                <a:solidFill>
                  <a:srgbClr val="202124"/>
                </a:solidFill>
                <a:effectLst/>
                <a:latin typeface="Roboto" panose="02000000000000000000" pitchFamily="2" charset="0"/>
              </a:rPr>
              <a:t>This KM curve compares survival between two patients' groups (Group A and Group C ) over time.</a:t>
            </a:r>
          </a:p>
          <a:p>
            <a:pPr algn="l">
              <a:buNone/>
            </a:pPr>
            <a:endParaRPr lang="en-US" b="0" i="0" dirty="0">
              <a:solidFill>
                <a:srgbClr val="202124"/>
              </a:solidFill>
              <a:effectLst/>
              <a:latin typeface="Roboto" panose="02000000000000000000" pitchFamily="2" charset="0"/>
            </a:endParaRPr>
          </a:p>
          <a:p>
            <a:pPr algn="l">
              <a:buNone/>
            </a:pPr>
            <a:r>
              <a:rPr lang="en-US" b="0" i="0" dirty="0">
                <a:solidFill>
                  <a:srgbClr val="202124"/>
                </a:solidFill>
                <a:effectLst/>
                <a:latin typeface="Roboto" panose="02000000000000000000" pitchFamily="2" charset="0"/>
              </a:rPr>
              <a:t>From the start, Patients in Group A had better survival compared to Group C suggesting a better long-term outcome. For example,  5 years post-diagnosis 30% of Group C patients were still alive compared to approximately 84%  of Group A patients.</a:t>
            </a:r>
          </a:p>
          <a:p>
            <a:pPr algn="l"/>
            <a:r>
              <a:rPr lang="en-US" b="0" i="0" dirty="0">
                <a:solidFill>
                  <a:srgbClr val="202124"/>
                </a:solidFill>
                <a:effectLst/>
                <a:latin typeface="Roboto" panose="02000000000000000000" pitchFamily="2" charset="0"/>
              </a:rPr>
              <a:t>Clinically, this suggests a survival advantage for Group A over Group C. </a:t>
            </a:r>
          </a:p>
          <a:p>
            <a:endParaRPr lang="en-US" dirty="0"/>
          </a:p>
        </p:txBody>
      </p:sp>
      <p:sp>
        <p:nvSpPr>
          <p:cNvPr id="4" name="Slide Number Placeholder 3"/>
          <p:cNvSpPr>
            <a:spLocks noGrp="1"/>
          </p:cNvSpPr>
          <p:nvPr>
            <p:ph type="sldNum" sz="quarter" idx="5"/>
          </p:nvPr>
        </p:nvSpPr>
        <p:spPr/>
        <p:txBody>
          <a:bodyPr/>
          <a:lstStyle/>
          <a:p>
            <a:fld id="{E2169073-66FE-4381-B110-A74C87859CA5}" type="slidenum">
              <a:rPr lang="en-US" smtClean="0"/>
              <a:t>6</a:t>
            </a:fld>
            <a:endParaRPr lang="en-US"/>
          </a:p>
        </p:txBody>
      </p:sp>
    </p:spTree>
    <p:extLst>
      <p:ext uri="{BB962C8B-B14F-4D97-AF65-F5344CB8AC3E}">
        <p14:creationId xmlns:p14="http://schemas.microsoft.com/office/powerpoint/2010/main" val="75897425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None/>
            </a:pPr>
            <a:r>
              <a:rPr lang="en-US" b="0" i="0" dirty="0">
                <a:solidFill>
                  <a:srgbClr val="202124"/>
                </a:solidFill>
                <a:effectLst/>
                <a:latin typeface="Roboto" panose="02000000000000000000" pitchFamily="2" charset="0"/>
              </a:rPr>
              <a:t>This plot shows the difference in survival between Group A and Group C (Group A - Group C) over time, displayed as a green line, highlighting the improved survival prospects for Group A.</a:t>
            </a:r>
          </a:p>
          <a:p>
            <a:pPr algn="l">
              <a:buNone/>
            </a:pPr>
            <a:r>
              <a:rPr lang="en-US" b="0" i="0" dirty="0">
                <a:solidFill>
                  <a:srgbClr val="202124"/>
                </a:solidFill>
                <a:effectLst/>
                <a:latin typeface="Roboto" panose="02000000000000000000" pitchFamily="2" charset="0"/>
              </a:rPr>
              <a:t> </a:t>
            </a:r>
          </a:p>
          <a:p>
            <a:pPr algn="l">
              <a:buNone/>
            </a:pPr>
            <a:r>
              <a:rPr lang="en-US" b="0" i="0" dirty="0">
                <a:solidFill>
                  <a:srgbClr val="202124"/>
                </a:solidFill>
                <a:effectLst/>
                <a:latin typeface="Roboto" panose="02000000000000000000" pitchFamily="2" charset="0"/>
              </a:rPr>
              <a:t>Group A has better survival (as seen by the green line and band staying above zero), but in the first year, the survival difference was not significant as the </a:t>
            </a:r>
            <a:r>
              <a:rPr lang="en-US" b="0" i="0" dirty="0" err="1">
                <a:solidFill>
                  <a:srgbClr val="202124"/>
                </a:solidFill>
                <a:effectLst/>
                <a:latin typeface="Roboto" panose="02000000000000000000" pitchFamily="2" charset="0"/>
              </a:rPr>
              <a:t>condifence</a:t>
            </a:r>
            <a:r>
              <a:rPr lang="en-US" b="0" i="0" dirty="0">
                <a:solidFill>
                  <a:srgbClr val="202124"/>
                </a:solidFill>
                <a:effectLst/>
                <a:latin typeface="Roboto" panose="02000000000000000000" pitchFamily="2" charset="0"/>
              </a:rPr>
              <a:t> band crosses the no difference line. </a:t>
            </a:r>
          </a:p>
          <a:p>
            <a:pPr algn="l">
              <a:buNone/>
            </a:pPr>
            <a:br>
              <a:rPr lang="en-US" b="0" i="0" dirty="0">
                <a:solidFill>
                  <a:srgbClr val="202124"/>
                </a:solidFill>
                <a:effectLst/>
                <a:latin typeface="Roboto" panose="02000000000000000000" pitchFamily="2" charset="0"/>
              </a:rPr>
            </a:br>
            <a:r>
              <a:rPr lang="en-US" b="0" i="0" dirty="0">
                <a:solidFill>
                  <a:srgbClr val="202124"/>
                </a:solidFill>
                <a:effectLst/>
                <a:latin typeface="Roboto" panose="02000000000000000000" pitchFamily="2" charset="0"/>
              </a:rPr>
              <a:t>The shaded area (in blue) represents the 95% Confidence Interval (CI) for the difference in survival.  If the CI does not contain zero, there is evidence that the difference in survival is likely to be real and not due to chance.  In this example, there is evidence of improved survival for Group A from the first year post-diagnosis onwards.</a:t>
            </a:r>
          </a:p>
          <a:p>
            <a:pPr algn="l">
              <a:buNone/>
            </a:pPr>
            <a:endParaRPr lang="en-US" b="0" i="0" dirty="0">
              <a:solidFill>
                <a:srgbClr val="202124"/>
              </a:solidFill>
              <a:effectLst/>
              <a:latin typeface="Roboto" panose="02000000000000000000" pitchFamily="2" charset="0"/>
            </a:endParaRPr>
          </a:p>
          <a:p>
            <a:pPr algn="l"/>
            <a:r>
              <a:rPr lang="en-US" b="0" i="0" dirty="0">
                <a:solidFill>
                  <a:srgbClr val="202124"/>
                </a:solidFill>
                <a:effectLst/>
                <a:latin typeface="Roboto" panose="02000000000000000000" pitchFamily="2" charset="0"/>
              </a:rPr>
              <a:t>Clinically, this suggests that Group A initially had a more favorable prognosis compared to Group C. </a:t>
            </a:r>
          </a:p>
          <a:p>
            <a:endParaRPr lang="en-US" dirty="0"/>
          </a:p>
          <a:p>
            <a:endParaRPr lang="en-US" dirty="0"/>
          </a:p>
        </p:txBody>
      </p:sp>
      <p:sp>
        <p:nvSpPr>
          <p:cNvPr id="4" name="Slide Number Placeholder 3"/>
          <p:cNvSpPr>
            <a:spLocks noGrp="1"/>
          </p:cNvSpPr>
          <p:nvPr>
            <p:ph type="sldNum" sz="quarter" idx="5"/>
          </p:nvPr>
        </p:nvSpPr>
        <p:spPr/>
        <p:txBody>
          <a:bodyPr/>
          <a:lstStyle/>
          <a:p>
            <a:fld id="{E2169073-66FE-4381-B110-A74C87859CA5}" type="slidenum">
              <a:rPr lang="en-US" smtClean="0"/>
              <a:t>7</a:t>
            </a:fld>
            <a:endParaRPr lang="en-US"/>
          </a:p>
        </p:txBody>
      </p:sp>
    </p:spTree>
    <p:extLst>
      <p:ext uri="{BB962C8B-B14F-4D97-AF65-F5344CB8AC3E}">
        <p14:creationId xmlns:p14="http://schemas.microsoft.com/office/powerpoint/2010/main" val="41898575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None/>
            </a:pPr>
            <a:r>
              <a:rPr lang="en-US" b="0" i="0" dirty="0">
                <a:solidFill>
                  <a:srgbClr val="202124"/>
                </a:solidFill>
                <a:effectLst/>
                <a:latin typeface="Roboto" panose="02000000000000000000" pitchFamily="2" charset="0"/>
              </a:rPr>
              <a:t>The MRL plot displays the estimated average remaining lifetime for patients who have already survived up to a specific time e.g. on average how much time have I left, given I have survived 2 years?</a:t>
            </a:r>
          </a:p>
          <a:p>
            <a:pPr algn="l">
              <a:buNone/>
            </a:pPr>
            <a:r>
              <a:rPr lang="en-US" b="0" i="0" dirty="0">
                <a:solidFill>
                  <a:srgbClr val="202124"/>
                </a:solidFill>
                <a:effectLst/>
                <a:latin typeface="Roboto" panose="02000000000000000000" pitchFamily="2" charset="0"/>
              </a:rPr>
              <a:t>For example, given that the patient is still alive 5 years post-diagnosis, the expected remaining life for Group A is about 17 years, compared to only about 3.5 years for Group C. </a:t>
            </a:r>
          </a:p>
          <a:p>
            <a:pPr algn="l"/>
            <a:r>
              <a:rPr lang="en-US" b="0" i="0" dirty="0">
                <a:solidFill>
                  <a:srgbClr val="202124"/>
                </a:solidFill>
                <a:effectLst/>
                <a:latin typeface="Roboto" panose="02000000000000000000" pitchFamily="2" charset="0"/>
              </a:rPr>
              <a:t>Clinically, this graph highlights that patients in Group A have a higher mean residual life compared to Group C.</a:t>
            </a:r>
          </a:p>
          <a:p>
            <a:endParaRPr lang="en-US" dirty="0"/>
          </a:p>
          <a:p>
            <a:endParaRPr lang="en-US" dirty="0"/>
          </a:p>
        </p:txBody>
      </p:sp>
      <p:sp>
        <p:nvSpPr>
          <p:cNvPr id="4" name="Slide Number Placeholder 3"/>
          <p:cNvSpPr>
            <a:spLocks noGrp="1"/>
          </p:cNvSpPr>
          <p:nvPr>
            <p:ph type="sldNum" sz="quarter" idx="5"/>
          </p:nvPr>
        </p:nvSpPr>
        <p:spPr/>
        <p:txBody>
          <a:bodyPr/>
          <a:lstStyle/>
          <a:p>
            <a:fld id="{E2169073-66FE-4381-B110-A74C87859CA5}" type="slidenum">
              <a:rPr lang="en-US" smtClean="0"/>
              <a:t>8</a:t>
            </a:fld>
            <a:endParaRPr lang="en-US"/>
          </a:p>
        </p:txBody>
      </p:sp>
    </p:spTree>
    <p:extLst>
      <p:ext uri="{BB962C8B-B14F-4D97-AF65-F5344CB8AC3E}">
        <p14:creationId xmlns:p14="http://schemas.microsoft.com/office/powerpoint/2010/main" val="25907424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dirty="0"/>
              <a:t>The MRL difference plot quantifies how much longer patients in Group A are expected to live compared to those in group C given than both have survived up to a certain time point  post diagnosis. </a:t>
            </a:r>
          </a:p>
          <a:p>
            <a:pPr>
              <a:buNone/>
            </a:pPr>
            <a:r>
              <a:rPr lang="en-US" dirty="0"/>
              <a:t>Group A consistently has a better prognosis, In the first 4 years , the difference has been decreasing but after Year 4, the difference consistently increased . </a:t>
            </a:r>
          </a:p>
          <a:p>
            <a:pPr>
              <a:buNone/>
            </a:pPr>
            <a:endParaRPr lang="en-US" dirty="0"/>
          </a:p>
          <a:p>
            <a:pPr>
              <a:buNone/>
            </a:pPr>
            <a:r>
              <a:rPr lang="en-US" dirty="0"/>
              <a:t>This means 10 years post diagnosis, individuals in Group A can expect to live, on average, 14 years longer than those in Group C .</a:t>
            </a:r>
          </a:p>
          <a:p>
            <a:endParaRPr lang="en-US" dirty="0"/>
          </a:p>
        </p:txBody>
      </p:sp>
      <p:sp>
        <p:nvSpPr>
          <p:cNvPr id="4" name="Slide Number Placeholder 3"/>
          <p:cNvSpPr>
            <a:spLocks noGrp="1"/>
          </p:cNvSpPr>
          <p:nvPr>
            <p:ph type="sldNum" sz="quarter" idx="5"/>
          </p:nvPr>
        </p:nvSpPr>
        <p:spPr/>
        <p:txBody>
          <a:bodyPr/>
          <a:lstStyle/>
          <a:p>
            <a:fld id="{E2169073-66FE-4381-B110-A74C87859CA5}" type="slidenum">
              <a:rPr lang="en-US" smtClean="0"/>
              <a:t>9</a:t>
            </a:fld>
            <a:endParaRPr lang="en-US"/>
          </a:p>
        </p:txBody>
      </p:sp>
    </p:spTree>
    <p:extLst>
      <p:ext uri="{BB962C8B-B14F-4D97-AF65-F5344CB8AC3E}">
        <p14:creationId xmlns:p14="http://schemas.microsoft.com/office/powerpoint/2010/main" val="30416234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960F5D-8A5D-3A1F-4799-E45A264812D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D07338B-9BFE-9266-3017-9B5CC72A325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058AB22-4D7C-170B-0E5A-42ED28E1DC20}"/>
              </a:ext>
            </a:extLst>
          </p:cNvPr>
          <p:cNvSpPr>
            <a:spLocks noGrp="1"/>
          </p:cNvSpPr>
          <p:nvPr>
            <p:ph type="dt" sz="half" idx="10"/>
          </p:nvPr>
        </p:nvSpPr>
        <p:spPr/>
        <p:txBody>
          <a:bodyPr/>
          <a:lstStyle/>
          <a:p>
            <a:fld id="{A145D097-58C3-422E-A579-D6229E43F89B}" type="datetimeFigureOut">
              <a:rPr lang="en-US" smtClean="0"/>
              <a:t>5/21/2025</a:t>
            </a:fld>
            <a:endParaRPr lang="en-US"/>
          </a:p>
        </p:txBody>
      </p:sp>
      <p:sp>
        <p:nvSpPr>
          <p:cNvPr id="5" name="Footer Placeholder 4">
            <a:extLst>
              <a:ext uri="{FF2B5EF4-FFF2-40B4-BE49-F238E27FC236}">
                <a16:creationId xmlns:a16="http://schemas.microsoft.com/office/drawing/2014/main" id="{0E97337A-661E-C30A-8F11-344E414C6F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6B65B1C-F5F0-86B7-119D-92D7B4BF45C0}"/>
              </a:ext>
            </a:extLst>
          </p:cNvPr>
          <p:cNvSpPr>
            <a:spLocks noGrp="1"/>
          </p:cNvSpPr>
          <p:nvPr>
            <p:ph type="sldNum" sz="quarter" idx="12"/>
          </p:nvPr>
        </p:nvSpPr>
        <p:spPr/>
        <p:txBody>
          <a:bodyPr/>
          <a:lstStyle/>
          <a:p>
            <a:fld id="{44B4CF95-2875-4FCE-80F2-8D5D04093345}" type="slidenum">
              <a:rPr lang="en-US" smtClean="0"/>
              <a:t>‹#›</a:t>
            </a:fld>
            <a:endParaRPr lang="en-US"/>
          </a:p>
        </p:txBody>
      </p:sp>
    </p:spTree>
    <p:extLst>
      <p:ext uri="{BB962C8B-B14F-4D97-AF65-F5344CB8AC3E}">
        <p14:creationId xmlns:p14="http://schemas.microsoft.com/office/powerpoint/2010/main" val="23898249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010468-427C-7144-87EC-2850BB60156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242BB4F-CB55-DC4F-2BBB-1576CABCF63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97F1656-EA9B-48CE-F41A-7F541643C286}"/>
              </a:ext>
            </a:extLst>
          </p:cNvPr>
          <p:cNvSpPr>
            <a:spLocks noGrp="1"/>
          </p:cNvSpPr>
          <p:nvPr>
            <p:ph type="dt" sz="half" idx="10"/>
          </p:nvPr>
        </p:nvSpPr>
        <p:spPr/>
        <p:txBody>
          <a:bodyPr/>
          <a:lstStyle/>
          <a:p>
            <a:fld id="{A145D097-58C3-422E-A579-D6229E43F89B}" type="datetimeFigureOut">
              <a:rPr lang="en-US" smtClean="0"/>
              <a:t>5/21/2025</a:t>
            </a:fld>
            <a:endParaRPr lang="en-US"/>
          </a:p>
        </p:txBody>
      </p:sp>
      <p:sp>
        <p:nvSpPr>
          <p:cNvPr id="5" name="Footer Placeholder 4">
            <a:extLst>
              <a:ext uri="{FF2B5EF4-FFF2-40B4-BE49-F238E27FC236}">
                <a16:creationId xmlns:a16="http://schemas.microsoft.com/office/drawing/2014/main" id="{58556A56-87EA-080D-26E1-AB354E29173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BDD30F1-8E1E-3DD1-0413-8E7DF8DECEF2}"/>
              </a:ext>
            </a:extLst>
          </p:cNvPr>
          <p:cNvSpPr>
            <a:spLocks noGrp="1"/>
          </p:cNvSpPr>
          <p:nvPr>
            <p:ph type="sldNum" sz="quarter" idx="12"/>
          </p:nvPr>
        </p:nvSpPr>
        <p:spPr/>
        <p:txBody>
          <a:bodyPr/>
          <a:lstStyle/>
          <a:p>
            <a:fld id="{44B4CF95-2875-4FCE-80F2-8D5D04093345}" type="slidenum">
              <a:rPr lang="en-US" smtClean="0"/>
              <a:t>‹#›</a:t>
            </a:fld>
            <a:endParaRPr lang="en-US"/>
          </a:p>
        </p:txBody>
      </p:sp>
    </p:spTree>
    <p:extLst>
      <p:ext uri="{BB962C8B-B14F-4D97-AF65-F5344CB8AC3E}">
        <p14:creationId xmlns:p14="http://schemas.microsoft.com/office/powerpoint/2010/main" val="8053696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C967AA-2685-BF01-E6D4-5F150D91A80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CB03482-47DD-0AD2-35F7-AB93F3FEAF0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96CEB8A-F3F6-C4B2-2996-B209BA679379}"/>
              </a:ext>
            </a:extLst>
          </p:cNvPr>
          <p:cNvSpPr>
            <a:spLocks noGrp="1"/>
          </p:cNvSpPr>
          <p:nvPr>
            <p:ph type="dt" sz="half" idx="10"/>
          </p:nvPr>
        </p:nvSpPr>
        <p:spPr/>
        <p:txBody>
          <a:bodyPr/>
          <a:lstStyle/>
          <a:p>
            <a:fld id="{A145D097-58C3-422E-A579-D6229E43F89B}" type="datetimeFigureOut">
              <a:rPr lang="en-US" smtClean="0"/>
              <a:t>5/21/2025</a:t>
            </a:fld>
            <a:endParaRPr lang="en-US"/>
          </a:p>
        </p:txBody>
      </p:sp>
      <p:sp>
        <p:nvSpPr>
          <p:cNvPr id="5" name="Footer Placeholder 4">
            <a:extLst>
              <a:ext uri="{FF2B5EF4-FFF2-40B4-BE49-F238E27FC236}">
                <a16:creationId xmlns:a16="http://schemas.microsoft.com/office/drawing/2014/main" id="{1395BD31-D944-1499-C4C3-9EF983A9B32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B5CA37A-1769-EE62-DEF6-F0D427D65861}"/>
              </a:ext>
            </a:extLst>
          </p:cNvPr>
          <p:cNvSpPr>
            <a:spLocks noGrp="1"/>
          </p:cNvSpPr>
          <p:nvPr>
            <p:ph type="sldNum" sz="quarter" idx="12"/>
          </p:nvPr>
        </p:nvSpPr>
        <p:spPr/>
        <p:txBody>
          <a:bodyPr/>
          <a:lstStyle/>
          <a:p>
            <a:fld id="{44B4CF95-2875-4FCE-80F2-8D5D04093345}" type="slidenum">
              <a:rPr lang="en-US" smtClean="0"/>
              <a:t>‹#›</a:t>
            </a:fld>
            <a:endParaRPr lang="en-US"/>
          </a:p>
        </p:txBody>
      </p:sp>
    </p:spTree>
    <p:extLst>
      <p:ext uri="{BB962C8B-B14F-4D97-AF65-F5344CB8AC3E}">
        <p14:creationId xmlns:p14="http://schemas.microsoft.com/office/powerpoint/2010/main" val="1015446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0F3B19-74C1-6C73-6945-E84F024194B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6C7AB01-DF02-B17C-6E9C-A5E23C32A11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9134494-07E3-9BEE-9C4C-FE423B41BAC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3BBAF73-96BB-78E3-F7A9-5D360050970A}"/>
              </a:ext>
            </a:extLst>
          </p:cNvPr>
          <p:cNvSpPr>
            <a:spLocks noGrp="1"/>
          </p:cNvSpPr>
          <p:nvPr>
            <p:ph type="dt" sz="half" idx="10"/>
          </p:nvPr>
        </p:nvSpPr>
        <p:spPr/>
        <p:txBody>
          <a:bodyPr/>
          <a:lstStyle/>
          <a:p>
            <a:fld id="{A145D097-58C3-422E-A579-D6229E43F89B}" type="datetimeFigureOut">
              <a:rPr lang="en-US" smtClean="0"/>
              <a:t>5/21/2025</a:t>
            </a:fld>
            <a:endParaRPr lang="en-US"/>
          </a:p>
        </p:txBody>
      </p:sp>
      <p:sp>
        <p:nvSpPr>
          <p:cNvPr id="6" name="Footer Placeholder 5">
            <a:extLst>
              <a:ext uri="{FF2B5EF4-FFF2-40B4-BE49-F238E27FC236}">
                <a16:creationId xmlns:a16="http://schemas.microsoft.com/office/drawing/2014/main" id="{469EA539-2A7A-E2A0-CD44-EFBBA078A6D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7C884D9-6398-749A-221A-7F149864437E}"/>
              </a:ext>
            </a:extLst>
          </p:cNvPr>
          <p:cNvSpPr>
            <a:spLocks noGrp="1"/>
          </p:cNvSpPr>
          <p:nvPr>
            <p:ph type="sldNum" sz="quarter" idx="12"/>
          </p:nvPr>
        </p:nvSpPr>
        <p:spPr/>
        <p:txBody>
          <a:bodyPr/>
          <a:lstStyle/>
          <a:p>
            <a:fld id="{44B4CF95-2875-4FCE-80F2-8D5D04093345}" type="slidenum">
              <a:rPr lang="en-US" smtClean="0"/>
              <a:t>‹#›</a:t>
            </a:fld>
            <a:endParaRPr lang="en-US"/>
          </a:p>
        </p:txBody>
      </p:sp>
    </p:spTree>
    <p:extLst>
      <p:ext uri="{BB962C8B-B14F-4D97-AF65-F5344CB8AC3E}">
        <p14:creationId xmlns:p14="http://schemas.microsoft.com/office/powerpoint/2010/main" val="34638045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51B98B-14DC-D6F5-90BB-F42CE48D551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0E73DB2-35C8-9DBD-F6CF-410DE5E89A7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3E34519-0AFF-AB4F-39E6-83CE14020BF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8B07F11-79A0-2EBA-A033-7E07CAFD070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D44F24F-F3A9-871F-DBFA-7ACFF20D5CE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F8F9A1D-6E8A-A581-45AB-0270E55513A8}"/>
              </a:ext>
            </a:extLst>
          </p:cNvPr>
          <p:cNvSpPr>
            <a:spLocks noGrp="1"/>
          </p:cNvSpPr>
          <p:nvPr>
            <p:ph type="dt" sz="half" idx="10"/>
          </p:nvPr>
        </p:nvSpPr>
        <p:spPr/>
        <p:txBody>
          <a:bodyPr/>
          <a:lstStyle/>
          <a:p>
            <a:fld id="{A145D097-58C3-422E-A579-D6229E43F89B}" type="datetimeFigureOut">
              <a:rPr lang="en-US" smtClean="0"/>
              <a:t>5/21/2025</a:t>
            </a:fld>
            <a:endParaRPr lang="en-US"/>
          </a:p>
        </p:txBody>
      </p:sp>
      <p:sp>
        <p:nvSpPr>
          <p:cNvPr id="8" name="Footer Placeholder 7">
            <a:extLst>
              <a:ext uri="{FF2B5EF4-FFF2-40B4-BE49-F238E27FC236}">
                <a16:creationId xmlns:a16="http://schemas.microsoft.com/office/drawing/2014/main" id="{292FD3B8-C790-5735-22FD-F7C280EBCE9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DC64490-84E5-003D-0E9B-F0C12BAF347F}"/>
              </a:ext>
            </a:extLst>
          </p:cNvPr>
          <p:cNvSpPr>
            <a:spLocks noGrp="1"/>
          </p:cNvSpPr>
          <p:nvPr>
            <p:ph type="sldNum" sz="quarter" idx="12"/>
          </p:nvPr>
        </p:nvSpPr>
        <p:spPr/>
        <p:txBody>
          <a:bodyPr/>
          <a:lstStyle/>
          <a:p>
            <a:fld id="{44B4CF95-2875-4FCE-80F2-8D5D04093345}" type="slidenum">
              <a:rPr lang="en-US" smtClean="0"/>
              <a:t>‹#›</a:t>
            </a:fld>
            <a:endParaRPr lang="en-US"/>
          </a:p>
        </p:txBody>
      </p:sp>
    </p:spTree>
    <p:extLst>
      <p:ext uri="{BB962C8B-B14F-4D97-AF65-F5344CB8AC3E}">
        <p14:creationId xmlns:p14="http://schemas.microsoft.com/office/powerpoint/2010/main" val="19421638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73647F-BA2D-D9A2-75CE-032C60868E2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34CA550-969B-4D22-DB00-4E30056C428B}"/>
              </a:ext>
            </a:extLst>
          </p:cNvPr>
          <p:cNvSpPr>
            <a:spLocks noGrp="1"/>
          </p:cNvSpPr>
          <p:nvPr>
            <p:ph type="dt" sz="half" idx="10"/>
          </p:nvPr>
        </p:nvSpPr>
        <p:spPr/>
        <p:txBody>
          <a:bodyPr/>
          <a:lstStyle/>
          <a:p>
            <a:fld id="{A145D097-58C3-422E-A579-D6229E43F89B}" type="datetimeFigureOut">
              <a:rPr lang="en-US" smtClean="0"/>
              <a:t>5/21/2025</a:t>
            </a:fld>
            <a:endParaRPr lang="en-US"/>
          </a:p>
        </p:txBody>
      </p:sp>
      <p:sp>
        <p:nvSpPr>
          <p:cNvPr id="4" name="Footer Placeholder 3">
            <a:extLst>
              <a:ext uri="{FF2B5EF4-FFF2-40B4-BE49-F238E27FC236}">
                <a16:creationId xmlns:a16="http://schemas.microsoft.com/office/drawing/2014/main" id="{6AE76A83-C5BD-C4EC-3DDB-DDCEB582C4F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4C172F9-96D0-9B9F-FE4F-0E8AAB4791BC}"/>
              </a:ext>
            </a:extLst>
          </p:cNvPr>
          <p:cNvSpPr>
            <a:spLocks noGrp="1"/>
          </p:cNvSpPr>
          <p:nvPr>
            <p:ph type="sldNum" sz="quarter" idx="12"/>
          </p:nvPr>
        </p:nvSpPr>
        <p:spPr/>
        <p:txBody>
          <a:bodyPr/>
          <a:lstStyle/>
          <a:p>
            <a:fld id="{44B4CF95-2875-4FCE-80F2-8D5D04093345}" type="slidenum">
              <a:rPr lang="en-US" smtClean="0"/>
              <a:t>‹#›</a:t>
            </a:fld>
            <a:endParaRPr lang="en-US"/>
          </a:p>
        </p:txBody>
      </p:sp>
    </p:spTree>
    <p:extLst>
      <p:ext uri="{BB962C8B-B14F-4D97-AF65-F5344CB8AC3E}">
        <p14:creationId xmlns:p14="http://schemas.microsoft.com/office/powerpoint/2010/main" val="40035254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6F2F1ED-2CA1-F50F-1A34-4725B73C47E1}"/>
              </a:ext>
            </a:extLst>
          </p:cNvPr>
          <p:cNvSpPr>
            <a:spLocks noGrp="1"/>
          </p:cNvSpPr>
          <p:nvPr>
            <p:ph type="dt" sz="half" idx="10"/>
          </p:nvPr>
        </p:nvSpPr>
        <p:spPr/>
        <p:txBody>
          <a:bodyPr/>
          <a:lstStyle/>
          <a:p>
            <a:fld id="{A145D097-58C3-422E-A579-D6229E43F89B}" type="datetimeFigureOut">
              <a:rPr lang="en-US" smtClean="0"/>
              <a:t>5/21/2025</a:t>
            </a:fld>
            <a:endParaRPr lang="en-US"/>
          </a:p>
        </p:txBody>
      </p:sp>
      <p:sp>
        <p:nvSpPr>
          <p:cNvPr id="3" name="Footer Placeholder 2">
            <a:extLst>
              <a:ext uri="{FF2B5EF4-FFF2-40B4-BE49-F238E27FC236}">
                <a16:creationId xmlns:a16="http://schemas.microsoft.com/office/drawing/2014/main" id="{34C781BC-F646-F7D7-BDCB-0C1A932DA00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876CE58-1F92-A604-3F1F-3F3F043386B6}"/>
              </a:ext>
            </a:extLst>
          </p:cNvPr>
          <p:cNvSpPr>
            <a:spLocks noGrp="1"/>
          </p:cNvSpPr>
          <p:nvPr>
            <p:ph type="sldNum" sz="quarter" idx="12"/>
          </p:nvPr>
        </p:nvSpPr>
        <p:spPr/>
        <p:txBody>
          <a:bodyPr/>
          <a:lstStyle/>
          <a:p>
            <a:fld id="{44B4CF95-2875-4FCE-80F2-8D5D04093345}" type="slidenum">
              <a:rPr lang="en-US" smtClean="0"/>
              <a:t>‹#›</a:t>
            </a:fld>
            <a:endParaRPr lang="en-US"/>
          </a:p>
        </p:txBody>
      </p:sp>
    </p:spTree>
    <p:extLst>
      <p:ext uri="{BB962C8B-B14F-4D97-AF65-F5344CB8AC3E}">
        <p14:creationId xmlns:p14="http://schemas.microsoft.com/office/powerpoint/2010/main" val="24424135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AA87EF-5783-027B-70C0-A7C65983F0A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139DF78-1493-B3C7-1640-DFD1285F308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D178BF1-25C7-1AD1-E8AB-D853BEE92E0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A46F0A2-9946-6F29-E1DA-BC290CBC8A93}"/>
              </a:ext>
            </a:extLst>
          </p:cNvPr>
          <p:cNvSpPr>
            <a:spLocks noGrp="1"/>
          </p:cNvSpPr>
          <p:nvPr>
            <p:ph type="dt" sz="half" idx="10"/>
          </p:nvPr>
        </p:nvSpPr>
        <p:spPr/>
        <p:txBody>
          <a:bodyPr/>
          <a:lstStyle/>
          <a:p>
            <a:fld id="{A145D097-58C3-422E-A579-D6229E43F89B}" type="datetimeFigureOut">
              <a:rPr lang="en-US" smtClean="0"/>
              <a:t>5/21/2025</a:t>
            </a:fld>
            <a:endParaRPr lang="en-US"/>
          </a:p>
        </p:txBody>
      </p:sp>
      <p:sp>
        <p:nvSpPr>
          <p:cNvPr id="6" name="Footer Placeholder 5">
            <a:extLst>
              <a:ext uri="{FF2B5EF4-FFF2-40B4-BE49-F238E27FC236}">
                <a16:creationId xmlns:a16="http://schemas.microsoft.com/office/drawing/2014/main" id="{3359F5CA-A6F4-A45D-A51A-1AEC75F275C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A48D95B-6EE4-80AA-11B4-188BB131F994}"/>
              </a:ext>
            </a:extLst>
          </p:cNvPr>
          <p:cNvSpPr>
            <a:spLocks noGrp="1"/>
          </p:cNvSpPr>
          <p:nvPr>
            <p:ph type="sldNum" sz="quarter" idx="12"/>
          </p:nvPr>
        </p:nvSpPr>
        <p:spPr/>
        <p:txBody>
          <a:bodyPr/>
          <a:lstStyle/>
          <a:p>
            <a:fld id="{44B4CF95-2875-4FCE-80F2-8D5D04093345}" type="slidenum">
              <a:rPr lang="en-US" smtClean="0"/>
              <a:t>‹#›</a:t>
            </a:fld>
            <a:endParaRPr lang="en-US"/>
          </a:p>
        </p:txBody>
      </p:sp>
    </p:spTree>
    <p:extLst>
      <p:ext uri="{BB962C8B-B14F-4D97-AF65-F5344CB8AC3E}">
        <p14:creationId xmlns:p14="http://schemas.microsoft.com/office/powerpoint/2010/main" val="40947554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85D83C-0A5E-2B23-4B1E-916901AFAE2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5A17C8C-F8A1-9842-CFC9-54A0596E913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4D9AB99-760C-F8BB-F713-842748E634C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6A0BE4E-1ECB-DE72-724E-AB8F564EBCED}"/>
              </a:ext>
            </a:extLst>
          </p:cNvPr>
          <p:cNvSpPr>
            <a:spLocks noGrp="1"/>
          </p:cNvSpPr>
          <p:nvPr>
            <p:ph type="dt" sz="half" idx="10"/>
          </p:nvPr>
        </p:nvSpPr>
        <p:spPr/>
        <p:txBody>
          <a:bodyPr/>
          <a:lstStyle/>
          <a:p>
            <a:fld id="{A145D097-58C3-422E-A579-D6229E43F89B}" type="datetimeFigureOut">
              <a:rPr lang="en-US" smtClean="0"/>
              <a:t>5/21/2025</a:t>
            </a:fld>
            <a:endParaRPr lang="en-US"/>
          </a:p>
        </p:txBody>
      </p:sp>
      <p:sp>
        <p:nvSpPr>
          <p:cNvPr id="6" name="Footer Placeholder 5">
            <a:extLst>
              <a:ext uri="{FF2B5EF4-FFF2-40B4-BE49-F238E27FC236}">
                <a16:creationId xmlns:a16="http://schemas.microsoft.com/office/drawing/2014/main" id="{F09AC86D-05DC-DCA3-80DB-8EA158B033B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83B98F9-34F0-7FAE-855A-12BEBF7CBD90}"/>
              </a:ext>
            </a:extLst>
          </p:cNvPr>
          <p:cNvSpPr>
            <a:spLocks noGrp="1"/>
          </p:cNvSpPr>
          <p:nvPr>
            <p:ph type="sldNum" sz="quarter" idx="12"/>
          </p:nvPr>
        </p:nvSpPr>
        <p:spPr/>
        <p:txBody>
          <a:bodyPr/>
          <a:lstStyle/>
          <a:p>
            <a:fld id="{44B4CF95-2875-4FCE-80F2-8D5D04093345}" type="slidenum">
              <a:rPr lang="en-US" smtClean="0"/>
              <a:t>‹#›</a:t>
            </a:fld>
            <a:endParaRPr lang="en-US"/>
          </a:p>
        </p:txBody>
      </p:sp>
    </p:spTree>
    <p:extLst>
      <p:ext uri="{BB962C8B-B14F-4D97-AF65-F5344CB8AC3E}">
        <p14:creationId xmlns:p14="http://schemas.microsoft.com/office/powerpoint/2010/main" val="26485074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D96594-08E2-A858-6B03-40A40DB1C99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9C9ED38-37B2-0A8B-F5CD-B01B5C24D07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C059099-85C5-0866-598A-6085A2249E7E}"/>
              </a:ext>
            </a:extLst>
          </p:cNvPr>
          <p:cNvSpPr>
            <a:spLocks noGrp="1"/>
          </p:cNvSpPr>
          <p:nvPr>
            <p:ph type="dt" sz="half" idx="10"/>
          </p:nvPr>
        </p:nvSpPr>
        <p:spPr/>
        <p:txBody>
          <a:bodyPr/>
          <a:lstStyle/>
          <a:p>
            <a:fld id="{A145D097-58C3-422E-A579-D6229E43F89B}" type="datetimeFigureOut">
              <a:rPr lang="en-US" smtClean="0"/>
              <a:t>5/21/2025</a:t>
            </a:fld>
            <a:endParaRPr lang="en-US"/>
          </a:p>
        </p:txBody>
      </p:sp>
      <p:sp>
        <p:nvSpPr>
          <p:cNvPr id="5" name="Footer Placeholder 4">
            <a:extLst>
              <a:ext uri="{FF2B5EF4-FFF2-40B4-BE49-F238E27FC236}">
                <a16:creationId xmlns:a16="http://schemas.microsoft.com/office/drawing/2014/main" id="{2EEDA33B-E1C6-596F-0033-21007B8C591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38F2A33-72A6-BEC3-E0FF-362CF9F352EC}"/>
              </a:ext>
            </a:extLst>
          </p:cNvPr>
          <p:cNvSpPr>
            <a:spLocks noGrp="1"/>
          </p:cNvSpPr>
          <p:nvPr>
            <p:ph type="sldNum" sz="quarter" idx="12"/>
          </p:nvPr>
        </p:nvSpPr>
        <p:spPr/>
        <p:txBody>
          <a:bodyPr/>
          <a:lstStyle/>
          <a:p>
            <a:fld id="{44B4CF95-2875-4FCE-80F2-8D5D04093345}" type="slidenum">
              <a:rPr lang="en-US" smtClean="0"/>
              <a:t>‹#›</a:t>
            </a:fld>
            <a:endParaRPr lang="en-US"/>
          </a:p>
        </p:txBody>
      </p:sp>
    </p:spTree>
    <p:extLst>
      <p:ext uri="{BB962C8B-B14F-4D97-AF65-F5344CB8AC3E}">
        <p14:creationId xmlns:p14="http://schemas.microsoft.com/office/powerpoint/2010/main" val="25121583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CD623BB-3E35-E975-4ECE-DDA415EA921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FE14CDC-BC67-ECA0-2116-A425D8893FC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0F52762-A2B6-CEFA-35C5-8AFA52025AEE}"/>
              </a:ext>
            </a:extLst>
          </p:cNvPr>
          <p:cNvSpPr>
            <a:spLocks noGrp="1"/>
          </p:cNvSpPr>
          <p:nvPr>
            <p:ph type="dt" sz="half" idx="10"/>
          </p:nvPr>
        </p:nvSpPr>
        <p:spPr/>
        <p:txBody>
          <a:bodyPr/>
          <a:lstStyle/>
          <a:p>
            <a:fld id="{A145D097-58C3-422E-A579-D6229E43F89B}" type="datetimeFigureOut">
              <a:rPr lang="en-US" smtClean="0"/>
              <a:t>5/21/2025</a:t>
            </a:fld>
            <a:endParaRPr lang="en-US"/>
          </a:p>
        </p:txBody>
      </p:sp>
      <p:sp>
        <p:nvSpPr>
          <p:cNvPr id="5" name="Footer Placeholder 4">
            <a:extLst>
              <a:ext uri="{FF2B5EF4-FFF2-40B4-BE49-F238E27FC236}">
                <a16:creationId xmlns:a16="http://schemas.microsoft.com/office/drawing/2014/main" id="{6F408608-962E-250A-2055-7E1B556A885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F1723CC-BEEF-FB29-C47F-7029E071CE8D}"/>
              </a:ext>
            </a:extLst>
          </p:cNvPr>
          <p:cNvSpPr>
            <a:spLocks noGrp="1"/>
          </p:cNvSpPr>
          <p:nvPr>
            <p:ph type="sldNum" sz="quarter" idx="12"/>
          </p:nvPr>
        </p:nvSpPr>
        <p:spPr/>
        <p:txBody>
          <a:bodyPr/>
          <a:lstStyle/>
          <a:p>
            <a:fld id="{44B4CF95-2875-4FCE-80F2-8D5D04093345}" type="slidenum">
              <a:rPr lang="en-US" smtClean="0"/>
              <a:t>‹#›</a:t>
            </a:fld>
            <a:endParaRPr lang="en-US"/>
          </a:p>
        </p:txBody>
      </p:sp>
    </p:spTree>
    <p:extLst>
      <p:ext uri="{BB962C8B-B14F-4D97-AF65-F5344CB8AC3E}">
        <p14:creationId xmlns:p14="http://schemas.microsoft.com/office/powerpoint/2010/main" val="22125603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EFC26AA-0041-F10B-EEAB-9EACDA22DFF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874C039-B6DB-5EF0-265E-CDA465601DD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3811D46-0E23-0F61-8DC2-E3E1625EA49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145D097-58C3-422E-A579-D6229E43F89B}" type="datetimeFigureOut">
              <a:rPr lang="en-US" smtClean="0"/>
              <a:t>5/21/2025</a:t>
            </a:fld>
            <a:endParaRPr lang="en-US"/>
          </a:p>
        </p:txBody>
      </p:sp>
      <p:sp>
        <p:nvSpPr>
          <p:cNvPr id="5" name="Footer Placeholder 4">
            <a:extLst>
              <a:ext uri="{FF2B5EF4-FFF2-40B4-BE49-F238E27FC236}">
                <a16:creationId xmlns:a16="http://schemas.microsoft.com/office/drawing/2014/main" id="{5DE41770-A7AA-C89A-50A2-84529227C35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541F78A7-DB2B-65A8-8D53-F59DBAE9490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4B4CF95-2875-4FCE-80F2-8D5D04093345}" type="slidenum">
              <a:rPr lang="en-US" smtClean="0"/>
              <a:t>‹#›</a:t>
            </a:fld>
            <a:endParaRPr lang="en-US"/>
          </a:p>
        </p:txBody>
      </p:sp>
    </p:spTree>
    <p:extLst>
      <p:ext uri="{BB962C8B-B14F-4D97-AF65-F5344CB8AC3E}">
        <p14:creationId xmlns:p14="http://schemas.microsoft.com/office/powerpoint/2010/main" val="189357826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A4F4B-FEBA-6952-6DA6-038F59DEF700}"/>
              </a:ext>
            </a:extLst>
          </p:cNvPr>
          <p:cNvSpPr>
            <a:spLocks noGrp="1"/>
          </p:cNvSpPr>
          <p:nvPr>
            <p:ph type="ctrTitle"/>
          </p:nvPr>
        </p:nvSpPr>
        <p:spPr/>
        <p:txBody>
          <a:bodyPr/>
          <a:lstStyle/>
          <a:p>
            <a:r>
              <a:rPr lang="en-US" dirty="0"/>
              <a:t>Survey Plots + Interpretations </a:t>
            </a:r>
          </a:p>
        </p:txBody>
      </p:sp>
      <p:sp>
        <p:nvSpPr>
          <p:cNvPr id="3" name="Subtitle 2">
            <a:extLst>
              <a:ext uri="{FF2B5EF4-FFF2-40B4-BE49-F238E27FC236}">
                <a16:creationId xmlns:a16="http://schemas.microsoft.com/office/drawing/2014/main" id="{D141A6D3-9D9D-DA9D-F43D-C7BB0E41E1AF}"/>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13255720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1F692B-6EB6-7E01-C8C4-6690AA130C07}"/>
              </a:ext>
            </a:extLst>
          </p:cNvPr>
          <p:cNvSpPr>
            <a:spLocks noGrp="1"/>
          </p:cNvSpPr>
          <p:nvPr>
            <p:ph type="title"/>
          </p:nvPr>
        </p:nvSpPr>
        <p:spPr/>
        <p:txBody>
          <a:bodyPr/>
          <a:lstStyle/>
          <a:p>
            <a:r>
              <a:rPr lang="en-US" dirty="0"/>
              <a:t>KM1 </a:t>
            </a:r>
          </a:p>
        </p:txBody>
      </p:sp>
      <p:pic>
        <p:nvPicPr>
          <p:cNvPr id="5" name="Content Placeholder 4">
            <a:extLst>
              <a:ext uri="{FF2B5EF4-FFF2-40B4-BE49-F238E27FC236}">
                <a16:creationId xmlns:a16="http://schemas.microsoft.com/office/drawing/2014/main" id="{A58A5AA8-A15E-58A9-9DB9-E755DB473669}"/>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3195108" y="1825625"/>
            <a:ext cx="5801784" cy="4351338"/>
          </a:xfrm>
        </p:spPr>
      </p:pic>
    </p:spTree>
    <p:extLst>
      <p:ext uri="{BB962C8B-B14F-4D97-AF65-F5344CB8AC3E}">
        <p14:creationId xmlns:p14="http://schemas.microsoft.com/office/powerpoint/2010/main" val="34795416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9BD783-B62A-3C52-D44A-96A57A8A7160}"/>
              </a:ext>
            </a:extLst>
          </p:cNvPr>
          <p:cNvSpPr>
            <a:spLocks noGrp="1"/>
          </p:cNvSpPr>
          <p:nvPr>
            <p:ph type="title"/>
          </p:nvPr>
        </p:nvSpPr>
        <p:spPr/>
        <p:txBody>
          <a:bodyPr/>
          <a:lstStyle/>
          <a:p>
            <a:r>
              <a:rPr lang="en-US" dirty="0"/>
              <a:t>Survdiff1</a:t>
            </a:r>
          </a:p>
        </p:txBody>
      </p:sp>
      <p:pic>
        <p:nvPicPr>
          <p:cNvPr id="5" name="Content Placeholder 4">
            <a:extLst>
              <a:ext uri="{FF2B5EF4-FFF2-40B4-BE49-F238E27FC236}">
                <a16:creationId xmlns:a16="http://schemas.microsoft.com/office/drawing/2014/main" id="{3FE55D38-0502-BC69-7126-722FD1AFBC47}"/>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3195108" y="1825625"/>
            <a:ext cx="5801784" cy="4351338"/>
          </a:xfrm>
        </p:spPr>
      </p:pic>
    </p:spTree>
    <p:extLst>
      <p:ext uri="{BB962C8B-B14F-4D97-AF65-F5344CB8AC3E}">
        <p14:creationId xmlns:p14="http://schemas.microsoft.com/office/powerpoint/2010/main" val="13075972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D501C7-C328-D1B0-49C3-231EC9903595}"/>
              </a:ext>
            </a:extLst>
          </p:cNvPr>
          <p:cNvSpPr>
            <a:spLocks noGrp="1"/>
          </p:cNvSpPr>
          <p:nvPr>
            <p:ph type="title"/>
          </p:nvPr>
        </p:nvSpPr>
        <p:spPr/>
        <p:txBody>
          <a:bodyPr/>
          <a:lstStyle/>
          <a:p>
            <a:r>
              <a:rPr lang="en-US" dirty="0"/>
              <a:t>MRL1</a:t>
            </a:r>
          </a:p>
        </p:txBody>
      </p:sp>
      <p:pic>
        <p:nvPicPr>
          <p:cNvPr id="5" name="Content Placeholder 4">
            <a:extLst>
              <a:ext uri="{FF2B5EF4-FFF2-40B4-BE49-F238E27FC236}">
                <a16:creationId xmlns:a16="http://schemas.microsoft.com/office/drawing/2014/main" id="{073C8B12-0404-EBEE-BADB-BF753473B9B5}"/>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3130644" y="1825625"/>
            <a:ext cx="5930712" cy="4351338"/>
          </a:xfrm>
        </p:spPr>
      </p:pic>
    </p:spTree>
    <p:extLst>
      <p:ext uri="{BB962C8B-B14F-4D97-AF65-F5344CB8AC3E}">
        <p14:creationId xmlns:p14="http://schemas.microsoft.com/office/powerpoint/2010/main" val="10825662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148FB9-6B54-2182-825F-35379270F58A}"/>
              </a:ext>
            </a:extLst>
          </p:cNvPr>
          <p:cNvSpPr>
            <a:spLocks noGrp="1"/>
          </p:cNvSpPr>
          <p:nvPr>
            <p:ph type="title"/>
          </p:nvPr>
        </p:nvSpPr>
        <p:spPr/>
        <p:txBody>
          <a:bodyPr/>
          <a:lstStyle/>
          <a:p>
            <a:r>
              <a:rPr lang="en-US" dirty="0"/>
              <a:t>MRL diff 1 </a:t>
            </a:r>
          </a:p>
        </p:txBody>
      </p:sp>
      <p:pic>
        <p:nvPicPr>
          <p:cNvPr id="5" name="Content Placeholder 4">
            <a:extLst>
              <a:ext uri="{FF2B5EF4-FFF2-40B4-BE49-F238E27FC236}">
                <a16:creationId xmlns:a16="http://schemas.microsoft.com/office/drawing/2014/main" id="{B2D56E9F-D892-3C90-AB9C-24579800D759}"/>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3130644" y="1825625"/>
            <a:ext cx="5930712" cy="4351338"/>
          </a:xfrm>
        </p:spPr>
      </p:pic>
    </p:spTree>
    <p:extLst>
      <p:ext uri="{BB962C8B-B14F-4D97-AF65-F5344CB8AC3E}">
        <p14:creationId xmlns:p14="http://schemas.microsoft.com/office/powerpoint/2010/main" val="37847231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5F3F13-8F61-FBA8-858E-F01A632066B5}"/>
              </a:ext>
            </a:extLst>
          </p:cNvPr>
          <p:cNvSpPr>
            <a:spLocks noGrp="1"/>
          </p:cNvSpPr>
          <p:nvPr>
            <p:ph type="title"/>
          </p:nvPr>
        </p:nvSpPr>
        <p:spPr/>
        <p:txBody>
          <a:bodyPr/>
          <a:lstStyle/>
          <a:p>
            <a:r>
              <a:rPr lang="en-US" dirty="0"/>
              <a:t>KM Plot 2 </a:t>
            </a:r>
          </a:p>
        </p:txBody>
      </p:sp>
      <p:pic>
        <p:nvPicPr>
          <p:cNvPr id="5" name="Content Placeholder 4">
            <a:extLst>
              <a:ext uri="{FF2B5EF4-FFF2-40B4-BE49-F238E27FC236}">
                <a16:creationId xmlns:a16="http://schemas.microsoft.com/office/drawing/2014/main" id="{8AF8E0C2-867A-4A64-61D6-113B3DD6B0BE}"/>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3195108" y="1825625"/>
            <a:ext cx="5801784" cy="4351338"/>
          </a:xfrm>
        </p:spPr>
      </p:pic>
    </p:spTree>
    <p:extLst>
      <p:ext uri="{BB962C8B-B14F-4D97-AF65-F5344CB8AC3E}">
        <p14:creationId xmlns:p14="http://schemas.microsoft.com/office/powerpoint/2010/main" val="29328708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301171-AEC8-F582-CF6F-ECB01940CA15}"/>
              </a:ext>
            </a:extLst>
          </p:cNvPr>
          <p:cNvSpPr>
            <a:spLocks noGrp="1"/>
          </p:cNvSpPr>
          <p:nvPr>
            <p:ph type="title"/>
          </p:nvPr>
        </p:nvSpPr>
        <p:spPr/>
        <p:txBody>
          <a:bodyPr/>
          <a:lstStyle/>
          <a:p>
            <a:r>
              <a:rPr lang="en-US" dirty="0" err="1"/>
              <a:t>Surv</a:t>
            </a:r>
            <a:r>
              <a:rPr lang="en-US" dirty="0"/>
              <a:t> diff 2 </a:t>
            </a:r>
          </a:p>
        </p:txBody>
      </p:sp>
      <p:pic>
        <p:nvPicPr>
          <p:cNvPr id="5" name="Content Placeholder 4">
            <a:extLst>
              <a:ext uri="{FF2B5EF4-FFF2-40B4-BE49-F238E27FC236}">
                <a16:creationId xmlns:a16="http://schemas.microsoft.com/office/drawing/2014/main" id="{E5BF3BC9-F704-68CD-B4CC-F08F05197E19}"/>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3195108" y="1825625"/>
            <a:ext cx="5801784" cy="4351338"/>
          </a:xfrm>
        </p:spPr>
      </p:pic>
    </p:spTree>
    <p:extLst>
      <p:ext uri="{BB962C8B-B14F-4D97-AF65-F5344CB8AC3E}">
        <p14:creationId xmlns:p14="http://schemas.microsoft.com/office/powerpoint/2010/main" val="36821729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1539D7-CA2C-26E4-601A-7534BD6AB339}"/>
              </a:ext>
            </a:extLst>
          </p:cNvPr>
          <p:cNvSpPr>
            <a:spLocks noGrp="1"/>
          </p:cNvSpPr>
          <p:nvPr>
            <p:ph type="title"/>
          </p:nvPr>
        </p:nvSpPr>
        <p:spPr/>
        <p:txBody>
          <a:bodyPr/>
          <a:lstStyle/>
          <a:p>
            <a:r>
              <a:rPr lang="en-US" dirty="0"/>
              <a:t>MRL 2</a:t>
            </a:r>
          </a:p>
        </p:txBody>
      </p:sp>
      <p:pic>
        <p:nvPicPr>
          <p:cNvPr id="5" name="Content Placeholder 4">
            <a:extLst>
              <a:ext uri="{FF2B5EF4-FFF2-40B4-BE49-F238E27FC236}">
                <a16:creationId xmlns:a16="http://schemas.microsoft.com/office/drawing/2014/main" id="{6F47451D-DA7F-1002-C808-8E81C00284D2}"/>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3130644" y="1825625"/>
            <a:ext cx="5930712" cy="4351338"/>
          </a:xfrm>
        </p:spPr>
      </p:pic>
    </p:spTree>
    <p:extLst>
      <p:ext uri="{BB962C8B-B14F-4D97-AF65-F5344CB8AC3E}">
        <p14:creationId xmlns:p14="http://schemas.microsoft.com/office/powerpoint/2010/main" val="37539880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370F18-F295-E6AE-2F2A-E893FD2C5EA4}"/>
              </a:ext>
            </a:extLst>
          </p:cNvPr>
          <p:cNvSpPr>
            <a:spLocks noGrp="1"/>
          </p:cNvSpPr>
          <p:nvPr>
            <p:ph type="title"/>
          </p:nvPr>
        </p:nvSpPr>
        <p:spPr/>
        <p:txBody>
          <a:bodyPr/>
          <a:lstStyle/>
          <a:p>
            <a:r>
              <a:rPr lang="en-US" dirty="0" err="1"/>
              <a:t>MRLdiff</a:t>
            </a:r>
            <a:r>
              <a:rPr lang="en-US" dirty="0"/>
              <a:t> 2</a:t>
            </a:r>
          </a:p>
        </p:txBody>
      </p:sp>
      <p:pic>
        <p:nvPicPr>
          <p:cNvPr id="5" name="Content Placeholder 4">
            <a:extLst>
              <a:ext uri="{FF2B5EF4-FFF2-40B4-BE49-F238E27FC236}">
                <a16:creationId xmlns:a16="http://schemas.microsoft.com/office/drawing/2014/main" id="{01923BCF-73A8-D113-6F11-2CF000617C2C}"/>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3130644" y="1825625"/>
            <a:ext cx="5930712" cy="4351338"/>
          </a:xfrm>
        </p:spPr>
      </p:pic>
    </p:spTree>
    <p:extLst>
      <p:ext uri="{BB962C8B-B14F-4D97-AF65-F5344CB8AC3E}">
        <p14:creationId xmlns:p14="http://schemas.microsoft.com/office/powerpoint/2010/main" val="396545298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117</TotalTime>
  <Words>921</Words>
  <Application>Microsoft Office PowerPoint</Application>
  <PresentationFormat>Widescreen</PresentationFormat>
  <Paragraphs>50</Paragraphs>
  <Slides>9</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Calibri</vt:lpstr>
      <vt:lpstr>Calibri Light</vt:lpstr>
      <vt:lpstr>Roboto</vt:lpstr>
      <vt:lpstr>Office Theme</vt:lpstr>
      <vt:lpstr>Survey Plots + Interpretations </vt:lpstr>
      <vt:lpstr>KM1 </vt:lpstr>
      <vt:lpstr>Survdiff1</vt:lpstr>
      <vt:lpstr>MRL1</vt:lpstr>
      <vt:lpstr>MRL diff 1 </vt:lpstr>
      <vt:lpstr>KM Plot 2 </vt:lpstr>
      <vt:lpstr>Surv diff 2 </vt:lpstr>
      <vt:lpstr>MRL 2</vt:lpstr>
      <vt:lpstr>MRLdiff 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Victor Pacifique Rwandarwacu</dc:creator>
  <cp:lastModifiedBy>Victor Pacifique Rwandarwacu</cp:lastModifiedBy>
  <cp:revision>3</cp:revision>
  <dcterms:created xsi:type="dcterms:W3CDTF">2025-05-19T08:40:31Z</dcterms:created>
  <dcterms:modified xsi:type="dcterms:W3CDTF">2025-05-21T10:31:23Z</dcterms:modified>
</cp:coreProperties>
</file>